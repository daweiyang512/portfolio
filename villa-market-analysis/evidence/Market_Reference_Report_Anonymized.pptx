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Relationship Id="rId5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Asking price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Asking price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C2 Q1</c:v>
                </c:pt>
                <c:pt idx="1">
                  <c:v>Subject Villa</c:v>
                </c:pt>
                <c:pt idx="2">
                  <c:v>C2 median</c:v>
                </c:pt>
                <c:pt idx="3">
                  <c:v>C2 Q3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531250</c:v>
                </c:pt>
                <c:pt idx="1">
                  <c:v>620000</c:v>
                </c:pt>
                <c:pt idx="2">
                  <c:v>890000</c:v>
                </c:pt>
                <c:pt idx="3">
                  <c:v>1393750</c:v>
                </c:pt>
              </c:numCache>
            </c:numRef>
          </c:val>
        </c:ser>
        <c:gapWidth val="150"/>
        <c:overlap val="0"/>
        <c:axId val="83598788"/>
        <c:axId val="96642615"/>
      </c:barChart>
      <c:catAx>
        <c:axId val="8359878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1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6642615"/>
        <c:crosses val="autoZero"/>
        <c:auto val="1"/>
        <c:lblAlgn val="ctr"/>
        <c:lblOffset val="100"/>
        <c:noMultiLvlLbl val="0"/>
      </c:catAx>
      <c:valAx>
        <c:axId val="9664261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\€0.0,,\m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359878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€ / sqm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€ / sqm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C2 Q1</c:v>
                </c:pt>
                <c:pt idx="1">
                  <c:v>Subject Villa</c:v>
                </c:pt>
                <c:pt idx="2">
                  <c:v>C2 median</c:v>
                </c:pt>
                <c:pt idx="3">
                  <c:v>C2 Q3</c:v>
                </c:pt>
                <c:pt idx="4">
                  <c:v>C2 P90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4309.14750957854</c:v>
                </c:pt>
                <c:pt idx="1">
                  <c:v>4769.23076923077</c:v>
                </c:pt>
                <c:pt idx="2">
                  <c:v>5165.76819407008</c:v>
                </c:pt>
                <c:pt idx="3">
                  <c:v>6666.66666666667</c:v>
                </c:pt>
                <c:pt idx="4">
                  <c:v>8650</c:v>
                </c:pt>
              </c:numCache>
            </c:numRef>
          </c:val>
        </c:ser>
        <c:gapWidth val="150"/>
        <c:overlap val="0"/>
        <c:axId val="78651008"/>
        <c:axId val="24099378"/>
      </c:barChart>
      <c:catAx>
        <c:axId val="7865100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4099378"/>
        <c:crosses val="autoZero"/>
        <c:auto val="1"/>
        <c:lblAlgn val="ctr"/>
        <c:lblOffset val="100"/>
        <c:noMultiLvlLbl val="0"/>
      </c:catAx>
      <c:valAx>
        <c:axId val="2409937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\€#,##0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865100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Price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3BR anchor</c:v>
                </c:pt>
                <c:pt idx="1">
                  <c:v>Subject Villa</c:v>
                </c:pt>
                <c:pt idx="2">
                  <c:v>Local C2 median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</c:v>
                </c:pt>
                <c:pt idx="1">
                  <c:v>620000</c:v>
                </c:pt>
                <c:pt idx="2">
                  <c:v>0</c:v>
                </c:pt>
              </c:numCache>
            </c:numRef>
          </c:val>
        </c:ser>
        <c:gapWidth val="150"/>
        <c:overlap val="0"/>
        <c:axId val="22809153"/>
        <c:axId val="22970666"/>
      </c:barChart>
      <c:catAx>
        <c:axId val="22809153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2970666"/>
        <c:crosses val="autoZero"/>
        <c:auto val="1"/>
        <c:lblAlgn val="ctr"/>
        <c:lblOffset val="100"/>
        <c:noMultiLvlLbl val="0"/>
      </c:catAx>
      <c:valAx>
        <c:axId val="2297066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\€0.0,,\m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280915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Expected gross cash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Expected gross cash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2844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3764.39777816771</c:v>
                </c:pt>
                <c:pt idx="1">
                  <c:v>974.056360808669</c:v>
                </c:pt>
                <c:pt idx="2">
                  <c:v>2632.70267535338</c:v>
                </c:pt>
                <c:pt idx="3">
                  <c:v>5920.30448001301</c:v>
                </c:pt>
                <c:pt idx="4">
                  <c:v>6818.71481423787</c:v>
                </c:pt>
                <c:pt idx="5">
                  <c:v>10672.0033253318</c:v>
                </c:pt>
                <c:pt idx="6">
                  <c:v>14376.4931071044</c:v>
                </c:pt>
                <c:pt idx="7">
                  <c:v>18721.0301811715</c:v>
                </c:pt>
                <c:pt idx="8">
                  <c:v>11274.2788315857</c:v>
                </c:pt>
                <c:pt idx="9">
                  <c:v>7551.74575209087</c:v>
                </c:pt>
                <c:pt idx="10">
                  <c:v>2435.50947384883</c:v>
                </c:pt>
                <c:pt idx="11">
                  <c:v>2226.64815660436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81633068"/>
        <c:axId val="96600330"/>
      </c:lineChart>
      <c:catAx>
        <c:axId val="8163306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6600330"/>
        <c:crosses val="autoZero"/>
        <c:auto val="1"/>
        <c:lblAlgn val="ctr"/>
        <c:lblOffset val="100"/>
        <c:noMultiLvlLbl val="0"/>
      </c:catAx>
      <c:valAx>
        <c:axId val="96600330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\€0,\k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163306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Weekly rent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Weekly rent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Local 3BR anchor</c:v>
                </c:pt>
                <c:pt idx="1">
                  <c:v>October model</c:v>
                </c:pt>
                <c:pt idx="2">
                  <c:v>August normal</c:v>
                </c:pt>
                <c:pt idx="3">
                  <c:v>August peak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1250</c:v>
                </c:pt>
                <c:pt idx="1">
                  <c:v>2115</c:v>
                </c:pt>
                <c:pt idx="2">
                  <c:v>3944</c:v>
                </c:pt>
                <c:pt idx="3">
                  <c:v>4630</c:v>
                </c:pt>
              </c:numCache>
            </c:numRef>
          </c:val>
        </c:ser>
        <c:gapWidth val="150"/>
        <c:overlap val="0"/>
        <c:axId val="94693159"/>
        <c:axId val="21433635"/>
      </c:barChart>
      <c:catAx>
        <c:axId val="94693159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1433635"/>
        <c:crosses val="autoZero"/>
        <c:auto val="1"/>
        <c:lblAlgn val="ctr"/>
        <c:lblOffset val="100"/>
        <c:noMultiLvlLbl val="0"/>
      </c:catAx>
      <c:valAx>
        <c:axId val="2143363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\€#,##0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469315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Base annual cash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Base annual cash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Self-managed / 3%</c:v>
                </c:pt>
                <c:pt idx="1">
                  <c:v>Self-managed / 15.5%</c:v>
                </c:pt>
                <c:pt idx="2">
                  <c:v>Light management</c:v>
                </c:pt>
                <c:pt idx="3">
                  <c:v>Full management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43981</c:v>
                </c:pt>
                <c:pt idx="1">
                  <c:v>33060</c:v>
                </c:pt>
                <c:pt idx="2">
                  <c:v>24053</c:v>
                </c:pt>
                <c:pt idx="3">
                  <c:v>12345</c:v>
                </c:pt>
              </c:numCache>
            </c:numRef>
          </c:val>
        </c:ser>
        <c:gapWidth val="150"/>
        <c:overlap val="0"/>
        <c:axId val="44207255"/>
        <c:axId val="92277419"/>
      </c:barChart>
      <c:catAx>
        <c:axId val="44207255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2277419"/>
        <c:crosses val="autoZero"/>
        <c:auto val="1"/>
        <c:lblAlgn val="ctr"/>
        <c:lblOffset val="100"/>
        <c:noMultiLvlLbl val="0"/>
      </c:catAx>
      <c:valAx>
        <c:axId val="9227741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\€0,\k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420725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C2 Q1</c:v>
                </c:pt>
                <c:pt idx="1">
                  <c:v>Subject Villa</c:v>
                </c:pt>
                <c:pt idx="2">
                  <c:v>C2 median</c:v>
                </c:pt>
                <c:pt idx="3">
                  <c:v>C2 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633000</c:v>
                </c:pt>
                <c:pt idx="1">
                  <c:v>620000</c:v>
                </c:pt>
                <c:pt idx="2">
                  <c:v>1200000</c:v>
                </c:pt>
                <c:pt idx="3">
                  <c:v>1950000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C2 Q1</c:v>
                </c:pt>
                <c:pt idx="1">
                  <c:v>Subject Villa</c:v>
                </c:pt>
                <c:pt idx="2">
                  <c:v>C2 median</c:v>
                </c:pt>
                <c:pt idx="3">
                  <c:v>C2 Q3</c:v>
                </c:pt>
                <c:pt idx="4">
                  <c:v>C2 P90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4333.33</c:v>
                </c:pt>
                <c:pt idx="1">
                  <c:v>4769.2307692307695</c:v>
                </c:pt>
                <c:pt idx="2">
                  <c:v>5508.04</c:v>
                </c:pt>
                <c:pt idx="3">
                  <c:v>6906.93</c:v>
                </c:pt>
                <c:pt idx="4">
                  <c:v>9385.09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3BR anchor</c:v>
                </c:pt>
                <c:pt idx="1">
                  <c:v>Subject Villa</c:v>
                </c:pt>
                <c:pt idx="2">
                  <c:v>Local C2 median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480000</c:v>
                </c:pt>
                <c:pt idx="1">
                  <c:v>620000</c:v>
                </c:pt>
                <c:pt idx="2">
                  <c:v>700000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Local 3BR anchor</c:v>
                </c:pt>
                <c:pt idx="1">
                  <c:v>October model</c:v>
                </c:pt>
                <c:pt idx="2">
                  <c:v>August normal</c:v>
                </c:pt>
                <c:pt idx="3">
                  <c:v>August peak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1250</c:v>
                </c:pt>
                <c:pt idx="1">
                  <c:v>2115</c:v>
                </c:pt>
                <c:pt idx="2">
                  <c:v>3944</c:v>
                </c:pt>
                <c:pt idx="3">
                  <c:v>4630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Self-managed / 3%</c:v>
                </c:pt>
                <c:pt idx="1">
                  <c:v>Self-managed / 15.5%</c:v>
                </c:pt>
                <c:pt idx="2">
                  <c:v>Light management</c:v>
                </c:pt>
                <c:pt idx="3">
                  <c:v>Full management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43981.2</c:v>
                </c:pt>
                <c:pt idx="1">
                  <c:v>33060.21</c:v>
                </c:pt>
                <c:pt idx="2">
                  <c:v>24053.46</c:v>
                </c:pt>
                <c:pt idx="3">
                  <c:v>12344.68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Screening 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Property form</c:v>
                </c:pt>
                <c:pt idx="1">
                  <c:v>Location</c:v>
                </c:pt>
                <c:pt idx="2">
                  <c:v>Area</c:v>
                </c:pt>
                <c:pt idx="3">
                  <c:v>Independence</c:v>
                </c:pt>
                <c:pt idx="4">
                  <c:v>Sea relationship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0.8534</c:v>
                </c:pt>
                <c:pt idx="1">
                  <c:v>0.6643</c:v>
                </c:pt>
                <c:pt idx="2">
                  <c:v>0.4226</c:v>
                </c:pt>
                <c:pt idx="3">
                  <c:v>0.00668</c:v>
                </c:pt>
                <c:pt idx="4">
                  <c:v>9.5e-05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b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62D9B9-5DE8-47D4-B1E8-DDB4DBC7BC9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65B410-B35C-40C8-A0D1-B0E3F62C0C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32A9C7-8FAD-4ECE-AF4E-9A404A68DE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8506D9-E938-44C3-8ACC-F31BFCC834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BB763D-5363-4106-B84D-F56760CC2B9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EC7187-A71A-44F0-ABAA-9EDC031A36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713684-A53E-4C2F-BCE5-C92AAA10C4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B2F6EE-A82F-42AB-B050-2E0BC14058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2F0B74-2F7E-4DE0-BFFC-6F87A0B497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8444FE-25BC-4E48-A958-D13F703D3FB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554F69-650F-43E1-9352-79D2D45180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<Relationship Id="rId3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<Relationship Id="rId3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<Relationship Id="rId3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9.xml"/><Relationship Id="rId3" Type="http://schemas.openxmlformats.org/officeDocument/2006/relationships/chart" Target="../charts/char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9.xml"/><Relationship Id="rId3" Type="http://schemas.openxmlformats.org/officeDocument/2006/relationships/chart" Target="../charts/char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267d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685800" y="9144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Subject Villa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Market Position, Rental Capacity &amp; Hold / Sell Reference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Costa Smeralda | Baja Sardinia | Mucchi Bianchi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ounded Rectangle 3"/>
          <p:cNvSpPr/>
          <p:nvPr/>
        </p:nvSpPr>
        <p:spPr>
          <a:xfrm>
            <a:off x="685800" y="2743200"/>
            <a:ext cx="2285640" cy="14169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850320" y="2871360"/>
            <a:ext cx="195660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CURRENT VALUE ANCHOR</a:t>
            </a:r>
          </a:p>
          <a:p>
            <a:r>
              <a:t>€620k</a:t>
            </a:r>
          </a:p>
          <a:p>
            <a:r>
              <a:t>Working market / asking-price anchor</a:t>
            </a:r>
          </a:p>
        </p:txBody>
      </p:sp>
      <p:sp>
        <p:nvSpPr>
          <p:cNvPr id="63" name="Rounded Rectangle 5"/>
          <p:cNvSpPr/>
          <p:nvPr/>
        </p:nvSpPr>
        <p:spPr>
          <a:xfrm>
            <a:off x="3154680" y="274320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3319200" y="2871360"/>
            <a:ext cx="223092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PROPERTY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130 sqm | 3BR | 2BA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~700 sqm garden / land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7"/>
          <p:cNvSpPr/>
          <p:nvPr/>
        </p:nvSpPr>
        <p:spPr>
          <a:xfrm>
            <a:off x="5897880" y="274320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6062400" y="2871360"/>
            <a:ext cx="223092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MARKET ROLE</a:t>
            </a:r>
          </a:p>
          <a:p>
            <a:r>
              <a:t>Core market</a:t>
            </a:r>
          </a:p>
          <a:p>
            <a:r>
              <a:t>C2 = the calibrated core market reference</a:t>
            </a:r>
          </a:p>
        </p:txBody>
      </p:sp>
      <p:sp>
        <p:nvSpPr>
          <p:cNvPr id="67" name="Rounded Rectangle 9"/>
          <p:cNvSpPr/>
          <p:nvPr/>
        </p:nvSpPr>
        <p:spPr>
          <a:xfrm>
            <a:off x="8641080" y="2743200"/>
            <a:ext cx="2559960" cy="14169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8805600" y="2871360"/>
            <a:ext cx="223092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RENTAL REFERENCE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€87.4k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Probability-weighted annual gross rent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11"/>
          <p:cNvSpPr/>
          <p:nvPr/>
        </p:nvSpPr>
        <p:spPr>
          <a:xfrm>
            <a:off x="685800" y="470916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eff5f7"/>
          </a:solidFill>
          <a:ln>
            <a:solidFill>
              <a:srgbClr val="eff5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868680" y="4846320"/>
            <a:ext cx="1014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Purpose: use the market dataset to place Subject Villa, test its rental position, and support a Hold / Sell reference view — not to present a standalone appraisal.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01 | MARKET DEFINITION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What We Mean by the Core Market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3"/>
          <p:cNvSpPr/>
          <p:nvPr/>
        </p:nvSpPr>
        <p:spPr>
          <a:xfrm>
            <a:off x="594360" y="1417320"/>
            <a:ext cx="10972440" cy="73116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777240" y="1554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CORE MARKET = the main, repeatable part of the Costa Smeralda residential price distribution: approximately €200k–€2.0m, after boundary calibration.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685800" y="2423160"/>
            <a:ext cx="51202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Why this is the relevant benchmark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The core is large enough to provide repeated observations and broad enough to include ordinary apartments, townhouses, villas and small-to-mid-size coastal homes.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It is not the same as “luxury”. Luxury is treated as a higher-price tail rather than the definition of the whole market.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6080760" y="2377440"/>
            <a:ext cx="182844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6245280" y="2505600"/>
            <a:ext cx="14994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CORE ENTITIES</a:t>
            </a:r>
          </a:p>
          <a:p>
            <a:r>
              <a:t>595</a:t>
            </a:r>
          </a:p>
          <a:p>
            <a:r>
              <a:t>Calibrated C2 pool</a:t>
            </a:r>
          </a:p>
        </p:txBody>
      </p:sp>
      <p:sp>
        <p:nvSpPr>
          <p:cNvPr id="79" name="Rounded Rectangle 8"/>
          <p:cNvSpPr/>
          <p:nvPr/>
        </p:nvSpPr>
        <p:spPr>
          <a:xfrm>
            <a:off x="8092440" y="2377440"/>
            <a:ext cx="182844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8256960" y="2505600"/>
            <a:ext cx="14994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PRICE MEDIAN</a:t>
            </a:r>
          </a:p>
          <a:p>
            <a:r>
              <a:t>~€1.20m</a:t>
            </a:r>
          </a:p>
          <a:p>
            <a:r>
              <a:t>Price-available sample</a:t>
            </a:r>
          </a:p>
        </p:txBody>
      </p:sp>
      <p:sp>
        <p:nvSpPr>
          <p:cNvPr id="81" name="Rounded Rectangle 10"/>
          <p:cNvSpPr/>
          <p:nvPr/>
        </p:nvSpPr>
        <p:spPr>
          <a:xfrm>
            <a:off x="10104120" y="2377440"/>
            <a:ext cx="118836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10268640" y="2505600"/>
            <a:ext cx="85932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SUBJECT VILLA</a:t>
            </a:r>
          </a:p>
          <a:p>
            <a:r>
              <a:t>€620k</a:t>
            </a:r>
          </a:p>
          <a:p>
            <a:r>
              <a:t>Within core</a:t>
            </a:r>
          </a:p>
        </p:txBody>
      </p:sp>
      <p:sp>
        <p:nvSpPr>
          <p:cNvPr id="83" name="Rounded Rectangle 12"/>
          <p:cNvSpPr/>
          <p:nvPr/>
        </p:nvSpPr>
        <p:spPr>
          <a:xfrm>
            <a:off x="6080760" y="3794760"/>
            <a:ext cx="182844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6245280" y="3922920"/>
            <a:ext cx="14994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AREA MEDIAN</a:t>
            </a:r>
          </a:p>
          <a:p>
            <a:r>
              <a:t>147.5 sqm</a:t>
            </a:r>
          </a:p>
          <a:p>
            <a:r>
              <a:t>C2 reference</a:t>
            </a:r>
          </a:p>
        </p:txBody>
      </p:sp>
      <p:sp>
        <p:nvSpPr>
          <p:cNvPr id="85" name="Rounded Rectangle 14"/>
          <p:cNvSpPr/>
          <p:nvPr/>
        </p:nvSpPr>
        <p:spPr>
          <a:xfrm>
            <a:off x="8092440" y="3794760"/>
            <a:ext cx="182844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256960" y="3922920"/>
            <a:ext cx="14994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SUBJECT VILLA AREA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130 sqm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Near core median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6"/>
          <p:cNvSpPr/>
          <p:nvPr/>
        </p:nvSpPr>
        <p:spPr>
          <a:xfrm>
            <a:off x="10104120" y="3794760"/>
            <a:ext cx="118836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10268640" y="3922920"/>
            <a:ext cx="85932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LOCAL</a:t>
            </a:r>
          </a:p>
          <a:p>
            <a:r>
              <a:t>€700k</a:t>
            </a:r>
          </a:p>
          <a:p>
            <a:r>
              <a:t>Baja C2 median</a:t>
            </a:r>
          </a:p>
        </p:txBody>
      </p:sp>
      <p:sp>
        <p:nvSpPr>
          <p:cNvPr id="89" name="Rounded Rectangle 18"/>
          <p:cNvSpPr/>
          <p:nvPr/>
        </p:nvSpPr>
        <p:spPr>
          <a:xfrm>
            <a:off x="685800" y="5303520"/>
            <a:ext cx="10515240" cy="6854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68680" y="544068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Subject Villa therefore sits inside the normal core market — but at a relatively low sales price for a mid-sized asset.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02 | PRICE DISTRIBUTION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Main Market Is Concentrated Below €2.5m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3" descr="price_distribution_zoom.png"/>
          <p:cNvPicPr/>
          <p:nvPr/>
        </p:nvPicPr>
        <p:blipFill>
          <a:blip r:embed="rId1"/>
          <a:stretch/>
        </p:blipFill>
        <p:spPr>
          <a:xfrm>
            <a:off x="640080" y="1417320"/>
            <a:ext cx="10926720" cy="416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ounded Rectangle 4"/>
          <p:cNvSpPr/>
          <p:nvPr/>
        </p:nvSpPr>
        <p:spPr>
          <a:xfrm>
            <a:off x="685800" y="5669280"/>
            <a:ext cx="10515240" cy="5025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868680" y="5806440"/>
            <a:ext cx="10149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scale is deliberately split: the main market gets most of the chart area; the high-price tail is shown separately rather than flattening the core.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03 | MARKET SEGMENTATION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Four Price Groups, Explained in Plain Language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"/>
          <p:cNvSpPr/>
          <p:nvPr/>
        </p:nvSpPr>
        <p:spPr>
          <a:xfrm>
            <a:off x="640080" y="1417320"/>
            <a:ext cx="2331360" cy="44802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777240" y="1645920"/>
            <a:ext cx="2057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C1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Low-price outliers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€&lt;200k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11 entities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Very small low-end tail; not representative of the normal Costa Smeralda market.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5"/>
          <p:cNvSpPr/>
          <p:nvPr/>
        </p:nvSpPr>
        <p:spPr>
          <a:xfrm>
            <a:off x="3520440" y="1417320"/>
            <a:ext cx="2331360" cy="44802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3657600" y="1645920"/>
            <a:ext cx="2057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C2</a:t>
            </a:r>
          </a:p>
          <a:p>
            <a:r>
              <a:t>Core market</a:t>
            </a:r>
          </a:p>
          <a:p>
            <a:r>
              <a:t>~€200k–€2m</a:t>
            </a:r>
          </a:p>
          <a:p>
            <a:r>
              <a:t>595 entities</a:t>
            </a:r>
          </a:p>
          <a:p>
            <a:r>
              <a:t>The main benchmark pool; the most useful comparison group for Subject Villa.</a:t>
            </a:r>
          </a:p>
        </p:txBody>
      </p:sp>
      <p:sp>
        <p:nvSpPr>
          <p:cNvPr id="104" name="Rounded Rectangle 7"/>
          <p:cNvSpPr/>
          <p:nvPr/>
        </p:nvSpPr>
        <p:spPr>
          <a:xfrm>
            <a:off x="6400800" y="1417320"/>
            <a:ext cx="2331360" cy="44802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6537960" y="1645920"/>
            <a:ext cx="2057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C3</a:t>
            </a:r>
          </a:p>
          <a:p>
            <a:r>
              <a:t>High-price / luxury tail</a:t>
            </a:r>
          </a:p>
          <a:p>
            <a:r>
              <a:t>Representative high tail</a:t>
            </a:r>
          </a:p>
          <a:p>
            <a:r>
              <a:t>69 entities</a:t>
            </a:r>
          </a:p>
          <a:p>
            <a:r>
              <a:t>Properties materially above the core; retained as a separate tail so they do not distort the core.</a:t>
            </a:r>
          </a:p>
        </p:txBody>
      </p:sp>
      <p:sp>
        <p:nvSpPr>
          <p:cNvPr id="106" name="Rounded Rectangle 9"/>
          <p:cNvSpPr/>
          <p:nvPr/>
        </p:nvSpPr>
        <p:spPr>
          <a:xfrm>
            <a:off x="9281160" y="1417320"/>
            <a:ext cx="2331360" cy="44802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9418320" y="1645920"/>
            <a:ext cx="2057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C4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Extreme luxury tail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Very high-price assets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31 entities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Trophy / ultra-prime assets whose pricing mechanism is materially different.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1"/>
          <p:cNvSpPr/>
          <p:nvPr/>
        </p:nvSpPr>
        <p:spPr>
          <a:xfrm>
            <a:off x="731520" y="6053400"/>
            <a:ext cx="10332360" cy="3837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2"/>
          <p:cNvSpPr/>
          <p:nvPr/>
        </p:nvSpPr>
        <p:spPr>
          <a:xfrm>
            <a:off x="914400" y="6190560"/>
            <a:ext cx="9966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C1–C4 are analytical labels for different price-generating regimes; they are not legal market categories.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31520" y="565099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7482"/>
                </a:solidFill>
              </a:defRPr>
            </a:pPr>
            <a:r>
              <a:t>Reconciliation note: C1 11 | C2 595 | C3 69 | C4 31 | 9 unresolved / other. These are not forced into a category.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04 | STRUCTURAL MODEL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Inside the Core: Property Form and Location Lead the Final C2 Screening</a:t>
            </a:r>
          </a:p>
        </p:txBody>
      </p:sp>
      <p:sp>
        <p:nvSpPr>
          <p:cNvPr id="113" name="Rounded Rectangle 3"/>
          <p:cNvSpPr/>
          <p:nvPr/>
        </p:nvSpPr>
        <p:spPr>
          <a:xfrm>
            <a:off x="685800" y="1371600"/>
            <a:ext cx="2880000" cy="13255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850320" y="1499760"/>
            <a:ext cx="255096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FIRST STRUCTURAL LAYER</a:t>
            </a:r>
          </a:p>
          <a:p>
            <a:r>
              <a:t>Property form</a:t>
            </a:r>
          </a:p>
          <a:p>
            <a:r>
              <a:t>The strongest screening separation in the reconciled 595-C2 pool.</a:t>
            </a:r>
          </a:p>
        </p:txBody>
      </p:sp>
      <p:sp>
        <p:nvSpPr>
          <p:cNvPr id="115" name="Rounded Rectangle 5"/>
          <p:cNvSpPr/>
          <p:nvPr/>
        </p:nvSpPr>
        <p:spPr>
          <a:xfrm>
            <a:off x="3794760" y="1371600"/>
            <a:ext cx="2880000" cy="13255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3959280" y="1499760"/>
            <a:ext cx="255096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SECOND STRUCTURAL LAYER</a:t>
            </a:r>
          </a:p>
          <a:p>
            <a:r>
              <a:t>Location</a:t>
            </a:r>
          </a:p>
          <a:p>
            <a:r>
              <a:t>The strongest next-stage separator after property form.</a:t>
            </a:r>
          </a:p>
        </p:txBody>
      </p:sp>
      <p:sp>
        <p:nvSpPr>
          <p:cNvPr id="117" name="Rounded Rectangle 7"/>
          <p:cNvSpPr/>
          <p:nvPr/>
        </p:nvSpPr>
        <p:spPr>
          <a:xfrm>
            <a:off x="6903720" y="1371600"/>
            <a:ext cx="2148480" cy="13255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7068240" y="1499760"/>
            <a:ext cx="18194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AREA Q1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~100 sqm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C2 reference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9"/>
          <p:cNvSpPr/>
          <p:nvPr/>
        </p:nvSpPr>
        <p:spPr>
          <a:xfrm>
            <a:off x="9235440" y="1371600"/>
            <a:ext cx="2148480" cy="13255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9399960" y="1499760"/>
            <a:ext cx="18194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AREA MEDIAN</a:t>
            </a:r>
          </a:p>
          <a:p>
            <a:r>
              <a:t>147.5 sqm</a:t>
            </a:r>
          </a:p>
          <a:p>
            <a:r>
              <a:t>C2 reference</a:t>
            </a:r>
          </a:p>
        </p:txBody>
      </p:sp>
      <p:sp>
        <p:nvSpPr>
          <p:cNvPr id="121" name="Rounded Rectangle 11"/>
          <p:cNvSpPr/>
          <p:nvPr/>
        </p:nvSpPr>
        <p:spPr>
          <a:xfrm>
            <a:off x="914400" y="3063240"/>
            <a:ext cx="10240920" cy="228564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2"/>
          <p:cNvSpPr/>
          <p:nvPr/>
        </p:nvSpPr>
        <p:spPr>
          <a:xfrm>
            <a:off x="1188720" y="3246120"/>
            <a:ext cx="9692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The final screening is exploratory: property form → location → area. It replaces the pre-reconciliation hierarchy and should not be read as causal inference.</a:t>
            </a:r>
          </a:p>
        </p:txBody>
      </p:sp>
      <p:sp>
        <p:nvSpPr>
          <p:cNvPr id="123" name="Rounded Rectangle 13"/>
          <p:cNvSpPr/>
          <p:nvPr/>
        </p:nvSpPr>
        <p:spPr>
          <a:xfrm>
            <a:off x="777240" y="5669280"/>
            <a:ext cx="10423800" cy="56664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4"/>
          <p:cNvSpPr/>
          <p:nvPr/>
        </p:nvSpPr>
        <p:spPr>
          <a:xfrm>
            <a:off x="960120" y="58064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Subject Villa remains a mid-sized property; its location and property configuration provide the more important structural context.</a:t>
            </a:r>
          </a:p>
        </p:txBody>
      </p:sp>
      <p:sp>
        <p:nvSpPr>
          <p:cNvPr id="125" name="TextBox 15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6583680" y="2743200"/>
          <a:ext cx="448056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7" name="TextBox 126"/>
          <p:cNvSpPr txBox="1"/>
          <p:nvPr/>
        </p:nvSpPr>
        <p:spPr>
          <a:xfrm>
            <a:off x="6629400" y="5074920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5C87"/>
                </a:solidFill>
              </a:defRPr>
            </a:pPr>
            <a:r>
              <a:t>Final C2 screening scores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05 | SUBJECT VILLA POSITION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Subject Villa Is Mid-Sized and Low-Priced Within the Core</a:t>
            </a:r>
          </a:p>
        </p:txBody>
      </p:sp>
      <p:pic>
        <p:nvPicPr>
          <p:cNvPr id="128" name="Picture 3" descr="c2_scatter_zoom.png"/>
          <p:cNvPicPr/>
          <p:nvPr/>
        </p:nvPicPr>
        <p:blipFill>
          <a:blip r:embed="rId1"/>
          <a:stretch/>
        </p:blipFill>
        <p:spPr>
          <a:xfrm>
            <a:off x="658440" y="1325880"/>
            <a:ext cx="722340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ounded Rectangle 4"/>
          <p:cNvSpPr/>
          <p:nvPr/>
        </p:nvSpPr>
        <p:spPr>
          <a:xfrm>
            <a:off x="8229600" y="1417320"/>
            <a:ext cx="274284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8394120" y="1545480"/>
            <a:ext cx="24138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SUBJECT VILLA AREA</a:t>
            </a:r>
          </a:p>
          <a:p>
            <a:r>
              <a:t>130 sqm</a:t>
            </a:r>
          </a:p>
          <a:p>
            <a:r>
              <a:t>C2 median ≈147.5 sqm</a:t>
            </a:r>
          </a:p>
        </p:txBody>
      </p:sp>
      <p:sp>
        <p:nvSpPr>
          <p:cNvPr id="131" name="Rounded Rectangle 6"/>
          <p:cNvSpPr/>
          <p:nvPr/>
        </p:nvSpPr>
        <p:spPr>
          <a:xfrm>
            <a:off x="8229600" y="2788920"/>
            <a:ext cx="274284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8394120" y="2917080"/>
            <a:ext cx="24138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SUBJECT VILLA PRICE</a:t>
            </a:r>
          </a:p>
          <a:p>
            <a:r>
              <a:t>€620k</a:t>
            </a:r>
          </a:p>
          <a:p>
            <a:r>
              <a:t>C2 median ≈€1.20m</a:t>
            </a:r>
          </a:p>
        </p:txBody>
      </p:sp>
      <p:sp>
        <p:nvSpPr>
          <p:cNvPr id="133" name="Rounded Rectangle 8"/>
          <p:cNvSpPr/>
          <p:nvPr/>
        </p:nvSpPr>
        <p:spPr>
          <a:xfrm>
            <a:off x="8229600" y="4160520"/>
            <a:ext cx="274284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9"/>
          <p:cNvSpPr/>
          <p:nvPr/>
        </p:nvSpPr>
        <p:spPr>
          <a:xfrm>
            <a:off x="8394120" y="4288680"/>
            <a:ext cx="24138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READING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Below median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Still inside the normal core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0"/>
          <p:cNvSpPr/>
          <p:nvPr/>
        </p:nvSpPr>
        <p:spPr>
          <a:xfrm>
            <a:off x="685800" y="5806440"/>
            <a:ext cx="10423800" cy="4568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868680" y="5943600"/>
            <a:ext cx="10058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useful signal is not “small and cheap”. It is “mid-sized, yet priced below the core-market middle.”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06 | BAJA SARDINIA / MUCCHI BIANCHI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From Costa Smeralda to the Local Market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685800" y="1417320"/>
            <a:ext cx="43887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The regional dataset narrows to the micro-market where Subject Villa actually competes.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Baja Sardinia / Mucchi Bianchi gives a more relevant benchmark than the full Costa Smeralda universe because the local stock contains the same broad residential forms and coastal use case.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The selected local set includes the subject reference; the local gap is universe-sensitive.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4"/>
          <p:cNvSpPr/>
          <p:nvPr/>
        </p:nvSpPr>
        <p:spPr>
          <a:xfrm>
            <a:off x="5440680" y="14173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5605200" y="1545480"/>
            <a:ext cx="15451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LOCAL COMPARISON POOL</a:t>
            </a:r>
          </a:p>
          <a:p>
            <a:r>
              <a:t>63</a:t>
            </a:r>
          </a:p>
          <a:p>
            <a:r>
              <a:t>Baja Sardinia / Mucchi Bianchi C2</a:t>
            </a:r>
          </a:p>
        </p:txBody>
      </p:sp>
      <p:sp>
        <p:nvSpPr>
          <p:cNvPr id="143" name="Rounded Rectangle 6"/>
          <p:cNvSpPr/>
          <p:nvPr/>
        </p:nvSpPr>
        <p:spPr>
          <a:xfrm>
            <a:off x="7498080" y="14173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7662600" y="1545480"/>
            <a:ext cx="15451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LOCAL C2 MEDIAN</a:t>
            </a:r>
          </a:p>
          <a:p>
            <a:r>
              <a:t>€700k</a:t>
            </a:r>
          </a:p>
          <a:p>
            <a:r>
              <a:t>Subject Villa at €620k</a:t>
            </a:r>
          </a:p>
        </p:txBody>
      </p:sp>
      <p:sp>
        <p:nvSpPr>
          <p:cNvPr id="145" name="Rounded Rectangle 8"/>
          <p:cNvSpPr/>
          <p:nvPr/>
        </p:nvSpPr>
        <p:spPr>
          <a:xfrm>
            <a:off x="9555480" y="14173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9720000" y="1545480"/>
            <a:ext cx="15451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LOCAL 3BR ANCHOR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€480k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~95–108 sqm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10" descr="local_price_ladder.png"/>
          <p:cNvPicPr/>
          <p:nvPr/>
        </p:nvPicPr>
        <p:blipFill>
          <a:blip r:embed="rId1"/>
          <a:stretch/>
        </p:blipFill>
        <p:spPr>
          <a:xfrm>
            <a:off x="685800" y="3337560"/>
            <a:ext cx="10423800" cy="242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ounded Rectangle 11"/>
          <p:cNvSpPr/>
          <p:nvPr/>
        </p:nvSpPr>
        <p:spPr>
          <a:xfrm>
            <a:off x="685800" y="5897880"/>
            <a:ext cx="10423800" cy="4111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868680" y="6035040"/>
            <a:ext cx="10058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Local position is descriptive and sensitive to which listings enter the comparison set.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07 | STRUCTURAL DIFFERENTIATION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Why Subject Villa Commands More Than a Standard 3BR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3"/>
          <p:cNvSpPr/>
          <p:nvPr/>
        </p:nvSpPr>
        <p:spPr>
          <a:xfrm>
            <a:off x="731520" y="1417320"/>
            <a:ext cx="4800240" cy="8226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896040" y="1545480"/>
            <a:ext cx="447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SIZE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130 sqm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Near the C2 size middle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5"/>
          <p:cNvSpPr/>
          <p:nvPr/>
        </p:nvSpPr>
        <p:spPr>
          <a:xfrm>
            <a:off x="6035040" y="1417320"/>
            <a:ext cx="4800240" cy="8226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6199560" y="1545480"/>
            <a:ext cx="447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SEA RELATIONSHIP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Strong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A major locational utility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7"/>
          <p:cNvSpPr/>
          <p:nvPr/>
        </p:nvSpPr>
        <p:spPr>
          <a:xfrm>
            <a:off x="731520" y="2423160"/>
            <a:ext cx="4800240" cy="8226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896040" y="2551320"/>
            <a:ext cx="447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BEACH PROXIMITY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~100 m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Direct seasonal-use advantage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9"/>
          <p:cNvSpPr/>
          <p:nvPr/>
        </p:nvSpPr>
        <p:spPr>
          <a:xfrm>
            <a:off x="6035040" y="2423160"/>
            <a:ext cx="4800240" cy="8226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6199560" y="2551320"/>
            <a:ext cx="447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PRIVATE OUTDOOR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~700 sqm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Large private external space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11"/>
          <p:cNvSpPr/>
          <p:nvPr/>
        </p:nvSpPr>
        <p:spPr>
          <a:xfrm>
            <a:off x="731520" y="3429000"/>
            <a:ext cx="4800240" cy="8226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896040" y="3557160"/>
            <a:ext cx="447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INDEPENDENCE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Three-sided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Higher privacy / less attachment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13"/>
          <p:cNvSpPr/>
          <p:nvPr/>
        </p:nvSpPr>
        <p:spPr>
          <a:xfrm>
            <a:off x="6035040" y="3429000"/>
            <a:ext cx="4800240" cy="8226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6199560" y="3557160"/>
            <a:ext cx="447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PARKING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Yes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Practical coastal utility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15"/>
          <p:cNvSpPr/>
          <p:nvPr/>
        </p:nvSpPr>
        <p:spPr>
          <a:xfrm>
            <a:off x="731520" y="4434840"/>
            <a:ext cx="4800240" cy="8226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896040" y="4563000"/>
            <a:ext cx="4471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BUILDING FORM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Multi-level / loft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Distinctive configuration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7"/>
          <p:cNvSpPr/>
          <p:nvPr/>
        </p:nvSpPr>
        <p:spPr>
          <a:xfrm>
            <a:off x="731520" y="5486400"/>
            <a:ext cx="10378080" cy="65808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8"/>
          <p:cNvSpPr/>
          <p:nvPr/>
        </p:nvSpPr>
        <p:spPr>
          <a:xfrm>
            <a:off x="914400" y="562356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local evidence suggests that the price difference is structural, not simply a function of floor area. This is exactly why the recursive C2 model uses location after size.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9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8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08 | RENTAL POSITION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Rental Market Gives a Different Signal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3" descr="monthly_rent_profile.png"/>
          <p:cNvPicPr/>
          <p:nvPr/>
        </p:nvPicPr>
        <p:blipFill>
          <a:blip r:embed="rId1"/>
          <a:stretch/>
        </p:blipFill>
        <p:spPr>
          <a:xfrm>
            <a:off x="640080" y="1371600"/>
            <a:ext cx="7131960" cy="416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ounded Rectangle 4"/>
          <p:cNvSpPr/>
          <p:nvPr/>
        </p:nvSpPr>
        <p:spPr>
          <a:xfrm>
            <a:off x="8229600" y="141732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8394120" y="1545480"/>
            <a:ext cx="241380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DIRECT 3BR ANCHOR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€1,250 / week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95 sqm | 3BR | 2BA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6"/>
          <p:cNvSpPr/>
          <p:nvPr/>
        </p:nvSpPr>
        <p:spPr>
          <a:xfrm>
            <a:off x="8229600" y="269748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8394120" y="2825640"/>
            <a:ext cx="241380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OCTOBER MODEL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€2,115 / week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Probability-weighted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8"/>
          <p:cNvSpPr/>
          <p:nvPr/>
        </p:nvSpPr>
        <p:spPr>
          <a:xfrm>
            <a:off x="8229600" y="397764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8394120" y="4105800"/>
            <a:ext cx="241380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AUGUST NORMAL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€3,944 / week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Peak €4,630 / week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0"/>
          <p:cNvSpPr/>
          <p:nvPr/>
        </p:nvSpPr>
        <p:spPr>
          <a:xfrm>
            <a:off x="685800" y="5742360"/>
            <a:ext cx="10515240" cy="5025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868680" y="5879520"/>
            <a:ext cx="10149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Rental positioning is materially stronger than the ordinary 3BR benchmark, creating the key sale-price versus rental-utility question.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9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09 | RENTAL &amp; ROI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Keep the Existing ROI Model — But Read It as Reference Data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3"/>
          <p:cNvSpPr/>
          <p:nvPr/>
        </p:nvSpPr>
        <p:spPr>
          <a:xfrm>
            <a:off x="685800" y="13716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850320" y="1499760"/>
            <a:ext cx="20023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ANNUAL GROSS RENT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€87.4k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12-month probability-weighted model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5"/>
          <p:cNvSpPr/>
          <p:nvPr/>
        </p:nvSpPr>
        <p:spPr>
          <a:xfrm>
            <a:off x="3246120" y="13716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6"/>
          <p:cNvSpPr/>
          <p:nvPr/>
        </p:nvSpPr>
        <p:spPr>
          <a:xfrm>
            <a:off x="3410640" y="1499760"/>
            <a:ext cx="20023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GROSS ROI</a:t>
            </a:r>
          </a:p>
          <a:p>
            <a:r>
              <a:t>14.09%</a:t>
            </a:r>
          </a:p>
          <a:p>
            <a:r>
              <a:t>Gross rent / €620k anchor</a:t>
            </a:r>
          </a:p>
        </p:txBody>
      </p:sp>
      <p:sp>
        <p:nvSpPr>
          <p:cNvPr id="188" name="Rounded Rectangle 7"/>
          <p:cNvSpPr/>
          <p:nvPr/>
        </p:nvSpPr>
        <p:spPr>
          <a:xfrm>
            <a:off x="5806440" y="13716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5970960" y="1499760"/>
            <a:ext cx="20023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LIGHT MANAGEMENT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€42.1k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Linear net cash before fixed layer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9"/>
          <p:cNvSpPr/>
          <p:nvPr/>
        </p:nvSpPr>
        <p:spPr>
          <a:xfrm>
            <a:off x="8366760" y="13716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0"/>
          <p:cNvSpPr/>
          <p:nvPr/>
        </p:nvSpPr>
        <p:spPr>
          <a:xfrm>
            <a:off x="8531280" y="1499760"/>
            <a:ext cx="200232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FULL MANAGEMENT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€30.4k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Linear net cash before fixed layer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777240" y="2971800"/>
            <a:ext cx="104238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How to use these numbers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1. The gross model shows the rental capacity implied by the existing 12-month seasonality and occupancy proxies.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2. The operating scenarios show how platform fees, management and tax assumptions compress cash.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3. Fixed and semi-fixed property costs are then applied separately; this avoids hiding non-linear costs inside a single “ROI” number.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5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4. These figures are reference outputs, not realised income.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2"/>
          <p:cNvSpPr/>
          <p:nvPr/>
        </p:nvSpPr>
        <p:spPr>
          <a:xfrm>
            <a:off x="777240" y="5596200"/>
            <a:ext cx="10378080" cy="65808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3"/>
          <p:cNvSpPr/>
          <p:nvPr/>
        </p:nvSpPr>
        <p:spPr>
          <a:xfrm>
            <a:off x="960120" y="573336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useful comparison is not “rent pays back the house”. It is “what cash flow does the already-owned asset generate relative to its current market value?”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4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10 | OPERATING CASH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Operating Costs Change the Cash Result Materially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3" descr="net_cash_scenarios.png"/>
          <p:cNvPicPr/>
          <p:nvPr/>
        </p:nvPicPr>
        <p:blipFill>
          <a:blip r:embed="rId1"/>
          <a:stretch/>
        </p:blipFill>
        <p:spPr>
          <a:xfrm>
            <a:off x="685800" y="1417320"/>
            <a:ext cx="7131960" cy="379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Box 4"/>
          <p:cNvSpPr/>
          <p:nvPr/>
        </p:nvSpPr>
        <p:spPr>
          <a:xfrm>
            <a:off x="8138160" y="1417320"/>
            <a:ext cx="28342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Base fixed / semi-fixed layer</a:t>
            </a:r>
          </a:p>
          <a:p>
            <a:r>
              <a:t>€18.05k / year</a:t>
            </a:r>
          </a:p>
          <a:p/>
          <a:p>
            <a:r>
              <a:t>Light management</a:t>
            </a:r>
          </a:p>
          <a:p>
            <a:r>
              <a:t>≈ €24.1k annual cash after base fixed costs</a:t>
            </a:r>
          </a:p>
          <a:p/>
          <a:p>
            <a:r>
              <a:t>Full management</a:t>
            </a:r>
          </a:p>
          <a:p>
            <a:r>
              <a:t>≈ €12.3k annual cash after base fixed costs</a:t>
            </a:r>
          </a:p>
          <a:p/>
          <a:p>
            <a:r>
              <a:t>The management model is therefore economically decisive.</a:t>
            </a:r>
          </a:p>
        </p:txBody>
      </p:sp>
      <p:sp>
        <p:nvSpPr>
          <p:cNvPr id="200" name="Rounded Rectangle 5"/>
          <p:cNvSpPr/>
          <p:nvPr/>
        </p:nvSpPr>
        <p:spPr>
          <a:xfrm>
            <a:off x="685800" y="5440680"/>
            <a:ext cx="10378080" cy="65808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868680" y="5577840"/>
            <a:ext cx="10012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asset is much more attractive under efficient self-management or light management than under full-service management.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11 | CAPITAL ALLOCATION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Hold or Sell? Compare Capital Uses, Not Payback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3"/>
          <p:cNvSpPr/>
          <p:nvPr/>
        </p:nvSpPr>
        <p:spPr>
          <a:xfrm>
            <a:off x="685800" y="1371600"/>
            <a:ext cx="228564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850320" y="1499760"/>
            <a:ext cx="1956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CURRENT CAPITAL VALUE</a:t>
            </a:r>
          </a:p>
          <a:p>
            <a:r>
              <a:t>€620k</a:t>
            </a:r>
          </a:p>
          <a:p>
            <a:r>
              <a:t>Capital tied up in the property</a:t>
            </a:r>
          </a:p>
        </p:txBody>
      </p:sp>
      <p:sp>
        <p:nvSpPr>
          <p:cNvPr id="207" name="Rounded Rectangle 5"/>
          <p:cNvSpPr/>
          <p:nvPr/>
        </p:nvSpPr>
        <p:spPr>
          <a:xfrm>
            <a:off x="3200400" y="1371600"/>
            <a:ext cx="228564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3364920" y="1499760"/>
            <a:ext cx="1956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LIGHT-MANAGEMENT CASH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~€24.1k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After base fixed costs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7"/>
          <p:cNvSpPr/>
          <p:nvPr/>
        </p:nvSpPr>
        <p:spPr>
          <a:xfrm>
            <a:off x="5715000" y="1371600"/>
            <a:ext cx="228564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8"/>
          <p:cNvSpPr/>
          <p:nvPr/>
        </p:nvSpPr>
        <p:spPr>
          <a:xfrm>
            <a:off x="5879520" y="1499760"/>
            <a:ext cx="1956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FULL-MANAGEMENT CASH</a:t>
            </a:r>
          </a:p>
          <a:p>
            <a:r>
              <a:t>~€12.3k</a:t>
            </a:r>
          </a:p>
          <a:p>
            <a:r>
              <a:t>After base fixed costs</a:t>
            </a:r>
          </a:p>
        </p:txBody>
      </p:sp>
      <p:sp>
        <p:nvSpPr>
          <p:cNvPr id="211" name="Rounded Rectangle 9"/>
          <p:cNvSpPr/>
          <p:nvPr/>
        </p:nvSpPr>
        <p:spPr>
          <a:xfrm>
            <a:off x="8229600" y="1371600"/>
            <a:ext cx="228564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0"/>
          <p:cNvSpPr/>
          <p:nvPr/>
        </p:nvSpPr>
        <p:spPr>
          <a:xfrm>
            <a:off x="8394120" y="1499760"/>
            <a:ext cx="19566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SELL OUTCOME</a:t>
            </a:r>
          </a:p>
          <a:p>
            <a:r>
              <a:t>€620k released</a:t>
            </a:r>
          </a:p>
          <a:p>
            <a:r>
              <a:t>Before transaction-specific sale costs</a:t>
            </a:r>
          </a:p>
        </p:txBody>
      </p:sp>
      <p:sp>
        <p:nvSpPr>
          <p:cNvPr id="213" name="TextBox 11"/>
          <p:cNvSpPr/>
          <p:nvPr/>
        </p:nvSpPr>
        <p:spPr>
          <a:xfrm>
            <a:off x="777240" y="3017520"/>
            <a:ext cx="50288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HOLD / RENT makes more sense when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the property can be operated near the efficient scenarios;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rental demand remains strong enough to sustain the model;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the owner values keeping a scarce coastal real asset;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there is no superior, concrete use for the released capital.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2"/>
          <p:cNvSpPr/>
          <p:nvPr/>
        </p:nvSpPr>
        <p:spPr>
          <a:xfrm>
            <a:off x="6172200" y="3017520"/>
            <a:ext cx="46630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SELL becomes stronger when</a:t>
            </a:r>
          </a:p>
          <a:p>
            <a:r>
              <a:t>• achievable rent or occupancy falls materially;</a:t>
            </a:r>
          </a:p>
          <a:p>
            <a:r>
              <a:t>• recurring or extraordinary costs rise;</a:t>
            </a:r>
          </a:p>
          <a:p>
            <a:r>
              <a:t>• full-service management becomes necessary;</a:t>
            </a:r>
          </a:p>
          <a:p>
            <a:r>
              <a:t>• a better risk-adjusted destination for the capital is actually identified;</a:t>
            </a:r>
          </a:p>
          <a:p>
            <a:r>
              <a:t>• the net sale price is materially above the €620k working anchor.</a:t>
            </a:r>
          </a:p>
        </p:txBody>
      </p:sp>
      <p:sp>
        <p:nvSpPr>
          <p:cNvPr id="215" name="Rounded Rectangle 13"/>
          <p:cNvSpPr/>
          <p:nvPr/>
        </p:nvSpPr>
        <p:spPr>
          <a:xfrm>
            <a:off x="777240" y="5532120"/>
            <a:ext cx="10240920" cy="621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4"/>
          <p:cNvSpPr/>
          <p:nvPr/>
        </p:nvSpPr>
        <p:spPr>
          <a:xfrm>
            <a:off x="960120" y="566928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Current reference view: holding is economically plausible, but the evidence does not justify a blind “always hold” or “always sell” conclusion.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5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12 | ASSET VIEW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Reference Conclusion: What the Evidence Suggests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3"/>
          <p:cNvSpPr/>
          <p:nvPr/>
        </p:nvSpPr>
        <p:spPr>
          <a:xfrm>
            <a:off x="685800" y="1371600"/>
            <a:ext cx="214848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850320" y="1499760"/>
            <a:ext cx="1819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MARKET ROLE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Core market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Normal residential price regime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5"/>
          <p:cNvSpPr/>
          <p:nvPr/>
        </p:nvSpPr>
        <p:spPr>
          <a:xfrm>
            <a:off x="3017520" y="1371600"/>
            <a:ext cx="214848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6"/>
          <p:cNvSpPr/>
          <p:nvPr/>
        </p:nvSpPr>
        <p:spPr>
          <a:xfrm>
            <a:off x="3182040" y="1499760"/>
            <a:ext cx="1819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SALES POSITION</a:t>
            </a:r>
          </a:p>
          <a:p>
            <a:r>
              <a:t>€620k</a:t>
            </a:r>
          </a:p>
          <a:p>
            <a:r>
              <a:t>Below core and local medians</a:t>
            </a:r>
          </a:p>
        </p:txBody>
      </p:sp>
      <p:sp>
        <p:nvSpPr>
          <p:cNvPr id="224" name="Rounded Rectangle 7"/>
          <p:cNvSpPr/>
          <p:nvPr/>
        </p:nvSpPr>
        <p:spPr>
          <a:xfrm>
            <a:off x="5349240" y="1371600"/>
            <a:ext cx="214848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8"/>
          <p:cNvSpPr/>
          <p:nvPr/>
        </p:nvSpPr>
        <p:spPr>
          <a:xfrm>
            <a:off x="5513760" y="1499760"/>
            <a:ext cx="1819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STRUCTURAL POSITION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High utility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Location + private outdoor package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9"/>
          <p:cNvSpPr/>
          <p:nvPr/>
        </p:nvSpPr>
        <p:spPr>
          <a:xfrm>
            <a:off x="7680960" y="1371600"/>
            <a:ext cx="214848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7845480" y="1499760"/>
            <a:ext cx="1819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RENTAL POSITION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Above ordinary 3BR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Strong seasonal utility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1"/>
          <p:cNvSpPr/>
          <p:nvPr/>
        </p:nvSpPr>
        <p:spPr>
          <a:xfrm>
            <a:off x="10012680" y="1371600"/>
            <a:ext cx="1234080" cy="118836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2"/>
          <p:cNvSpPr/>
          <p:nvPr/>
        </p:nvSpPr>
        <p:spPr>
          <a:xfrm>
            <a:off x="10177200" y="1499760"/>
            <a:ext cx="9050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trike="noStrike" u="none">
                <a:solidFill>
                  <a:srgbClr val="317352"/>
                </a:solidFill>
                <a:effectLst/>
                <a:uFillTx/>
                <a:latin typeface="Calibri"/>
              </a:rPr>
              <a:t>CASH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Positive*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Depends on management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3"/>
          <p:cNvSpPr/>
          <p:nvPr/>
        </p:nvSpPr>
        <p:spPr>
          <a:xfrm>
            <a:off x="777240" y="2880360"/>
            <a:ext cx="10332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Working reference hypothesis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Subject Villa looks more interesting as a held and rented asset than as a simple “sell because it is valuable” case.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The reason is the combination of a relatively low sales-market position, a mid-sized footprint, and a structural package that the rental market may value more strongly than the sales market does.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6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The strongest unresolved variable is execution: achievable rent, occupancy and the true annual operating cost for this specific property.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4"/>
          <p:cNvSpPr/>
          <p:nvPr/>
        </p:nvSpPr>
        <p:spPr>
          <a:xfrm>
            <a:off x="777240" y="5532120"/>
            <a:ext cx="10240920" cy="62136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960120" y="5669280"/>
            <a:ext cx="9875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Reference status: market analysis and decision support. Not an independent appraisal, tax opinion, or personalized investment mandate.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6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594360" y="320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APPENDIX</a:t>
            </a:r>
          </a:p>
        </p:txBody>
      </p:sp>
      <p:sp>
        <p:nvSpPr>
          <p:cNvPr id="235" name="TextBox 2"/>
          <p:cNvSpPr/>
          <p:nvPr/>
        </p:nvSpPr>
        <p:spPr>
          <a:xfrm>
            <a:off x="59436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Evidence Base and Method</a:t>
            </a:r>
          </a:p>
        </p:txBody>
      </p:sp>
      <p:sp>
        <p:nvSpPr>
          <p:cNvPr id="236" name="TextBox 3"/>
          <p:cNvSpPr/>
          <p:nvPr/>
        </p:nvSpPr>
        <p:spPr>
          <a:xfrm>
            <a:off x="685800" y="1325880"/>
            <a:ext cx="530316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MARKET</a:t>
            </a:r>
          </a:p>
          <a:p>
            <a:r>
              <a:t>• 966 canonical entities in the current working dataset</a:t>
            </a:r>
          </a:p>
          <a:p>
            <a:r>
              <a:t>• 715 price-available entities</a:t>
            </a:r>
          </a:p>
          <a:p>
            <a:r>
              <a:t>• C1 / C2 / C3 / C4 segmentation with the C3 layer calibrated to 69 scope-safe high-tail entities</a:t>
            </a:r>
          </a:p>
          <a:p/>
          <a:p>
            <a:r>
              <a:t>STRUCTURE</a:t>
            </a:r>
          </a:p>
          <a:p>
            <a:r>
              <a:t>• Final C2 screening: property form → location → area; exploratory, not causal</a:t>
            </a:r>
          </a:p>
          <a:p>
            <a:r>
              <a:t>• Subject Villa: 130 sqm and €620k</a:t>
            </a:r>
          </a:p>
          <a:p/>
          <a:p>
            <a:r>
              <a:t>LOCAL</a:t>
            </a:r>
          </a:p>
          <a:p>
            <a:r>
              <a:t>• Selected local set: 63 rows, including subject reference</a:t>
            </a:r>
          </a:p>
          <a:p>
            <a:r>
              <a:t>• Selected local-set median ≈ €700k (subject included)</a:t>
            </a:r>
          </a:p>
          <a:p>
            <a:r>
              <a:t>• Local 3BR anchor ≈ €480k</a:t>
            </a:r>
          </a:p>
        </p:txBody>
      </p:sp>
      <p:sp>
        <p:nvSpPr>
          <p:cNvPr id="237" name="TextBox 4"/>
          <p:cNvSpPr/>
          <p:nvPr/>
        </p:nvSpPr>
        <p:spPr>
          <a:xfrm>
            <a:off x="6126480" y="1325880"/>
            <a:ext cx="521172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RENTAL</a:t>
            </a:r>
          </a:p>
          <a:p>
            <a:r>
              <a:t>• 12-month probability-weighted model</a:t>
            </a:r>
          </a:p>
          <a:p>
            <a:r>
              <a:t>• Annual gross rent ≈ €87.4k</a:t>
            </a:r>
          </a:p>
          <a:p>
            <a:r>
              <a:t>• Light-management linear net cash ≈ €42.1k before fixed layer</a:t>
            </a:r>
          </a:p>
          <a:p>
            <a:r>
              <a:t>• Base fixed / semi-fixed cost layer ≈ €18.05k</a:t>
            </a:r>
          </a:p>
          <a:p/>
          <a:p>
            <a:r>
              <a:t>EXTERNAL CONTEXT</a:t>
            </a:r>
          </a:p>
          <a:p>
            <a:r>
              <a:t>• Costa Smeralda luxury stock is treated as a distinct upper-market segment, not the whole residential market</a:t>
            </a:r>
          </a:p>
          <a:p>
            <a:r>
              <a:t>• External prime price references support strong location dispersion</a:t>
            </a:r>
          </a:p>
          <a:p/>
          <a:p>
            <a:r>
              <a:t>LIMITATION</a:t>
            </a:r>
          </a:p>
          <a:p>
            <a:r>
              <a:t>Asking prices are market observations, not verified transaction prices. Rental outputs are modelled reference values, not guaranteed realised income.</a:t>
            </a:r>
          </a:p>
        </p:txBody>
      </p:sp>
      <p:sp>
        <p:nvSpPr>
          <p:cNvPr id="238" name="Rounded Rectangle 5"/>
          <p:cNvSpPr/>
          <p:nvPr/>
        </p:nvSpPr>
        <p:spPr>
          <a:xfrm>
            <a:off x="685800" y="5760720"/>
            <a:ext cx="10515240" cy="50256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868680" y="5897880"/>
            <a:ext cx="10149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All conclusions are framed as reference signals: the report narrows from regional evidence to the specific asset without claiming false precision.</a:t>
            </a:r>
          </a:p>
        </p:txBody>
      </p:sp>
      <p:sp>
        <p:nvSpPr>
          <p:cNvPr id="240" name="TextBox 7"/>
          <p:cNvSpPr/>
          <p:nvPr/>
        </p:nvSpPr>
        <p:spPr>
          <a:xfrm>
            <a:off x="594360" y="6510600"/>
            <a:ext cx="10972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r>
              <a:t>Subject Villa | Market Reference | 29 Aug 2026 | 14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06A | PRICE POSITION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Asking Price Sits in the Lower Half of the Core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4"/>
          <p:cNvSpPr/>
          <p:nvPr/>
        </p:nvSpPr>
        <p:spPr>
          <a:xfrm>
            <a:off x="8229600" y="141732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5"/>
          <p:cNvSpPr/>
          <p:nvPr/>
        </p:nvSpPr>
        <p:spPr>
          <a:xfrm>
            <a:off x="8375760" y="152712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SUBJECT VILLA PRICE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6"/>
          <p:cNvSpPr/>
          <p:nvPr/>
        </p:nvSpPr>
        <p:spPr>
          <a:xfrm>
            <a:off x="8375760" y="178308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€620k</a:t>
            </a:r>
          </a:p>
        </p:txBody>
      </p:sp>
      <p:sp>
        <p:nvSpPr>
          <p:cNvPr id="247" name="TextBox 7"/>
          <p:cNvSpPr/>
          <p:nvPr/>
        </p:nvSpPr>
        <p:spPr>
          <a:xfrm>
            <a:off x="8375760" y="216720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Working market anchor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8"/>
          <p:cNvSpPr/>
          <p:nvPr/>
        </p:nvSpPr>
        <p:spPr>
          <a:xfrm>
            <a:off x="8229600" y="269748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8375760" y="280728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C2 MEDIAN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8375760" y="306324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€1.20m</a:t>
            </a:r>
          </a:p>
        </p:txBody>
      </p:sp>
      <p:sp>
        <p:nvSpPr>
          <p:cNvPr id="251" name="TextBox 11"/>
          <p:cNvSpPr/>
          <p:nvPr/>
        </p:nvSpPr>
        <p:spPr>
          <a:xfrm>
            <a:off x="8375760" y="344736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Price-available C2 sample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12"/>
          <p:cNvSpPr/>
          <p:nvPr/>
        </p:nvSpPr>
        <p:spPr>
          <a:xfrm>
            <a:off x="8229600" y="397764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8375760" y="408744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SUBJECT VILLA PERCENTILE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8375760" y="434340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25th</a:t>
            </a:r>
          </a:p>
        </p:txBody>
      </p:sp>
      <p:sp>
        <p:nvSpPr>
          <p:cNvPr id="255" name="TextBox 15"/>
          <p:cNvSpPr/>
          <p:nvPr/>
        </p:nvSpPr>
        <p:spPr>
          <a:xfrm>
            <a:off x="8375760" y="472752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Within C2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6"/>
          <p:cNvSpPr/>
          <p:nvPr/>
        </p:nvSpPr>
        <p:spPr>
          <a:xfrm>
            <a:off x="685800" y="5806440"/>
            <a:ext cx="10469520" cy="43848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17"/>
          <p:cNvSpPr/>
          <p:nvPr/>
        </p:nvSpPr>
        <p:spPr>
          <a:xfrm>
            <a:off x="868680" y="5916240"/>
            <a:ext cx="1010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property is not a low-end outlier. It is a normal core-market asset priced below the middle of the current C2 distribution.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8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9" name="Chart 258"/>
          <p:cNvGraphicFramePr>
            <a:graphicFrameLocks noGrp="1"/>
          </p:cNvGraphicFramePr>
          <p:nvPr/>
        </p:nvGraphicFramePr>
        <p:xfrm>
          <a:off x="685800" y="1417320"/>
          <a:ext cx="7131960" cy="425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06B | UNIT ECONOMICS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At €4,769/sqm, Subject Villa Is Below the C2 Middle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4"/>
          <p:cNvSpPr/>
          <p:nvPr/>
        </p:nvSpPr>
        <p:spPr>
          <a:xfrm>
            <a:off x="8229600" y="141732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8375760" y="152712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SUBJECT VILLA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6"/>
          <p:cNvSpPr/>
          <p:nvPr/>
        </p:nvSpPr>
        <p:spPr>
          <a:xfrm>
            <a:off x="8375760" y="178308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€4,769 / sqm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7"/>
          <p:cNvSpPr/>
          <p:nvPr/>
        </p:nvSpPr>
        <p:spPr>
          <a:xfrm>
            <a:off x="8375760" y="216720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€620k / 130 sqm</a:t>
            </a:r>
          </a:p>
        </p:txBody>
      </p:sp>
      <p:sp>
        <p:nvSpPr>
          <p:cNvPr id="266" name="Rounded Rectangle 8"/>
          <p:cNvSpPr/>
          <p:nvPr/>
        </p:nvSpPr>
        <p:spPr>
          <a:xfrm>
            <a:off x="8229600" y="269748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9"/>
          <p:cNvSpPr/>
          <p:nvPr/>
        </p:nvSpPr>
        <p:spPr>
          <a:xfrm>
            <a:off x="8375760" y="280728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C2 MEDIAN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0"/>
          <p:cNvSpPr/>
          <p:nvPr/>
        </p:nvSpPr>
        <p:spPr>
          <a:xfrm>
            <a:off x="8375760" y="306324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€5,508 / sqm</a:t>
            </a:r>
          </a:p>
        </p:txBody>
      </p:sp>
      <p:sp>
        <p:nvSpPr>
          <p:cNvPr id="269" name="TextBox 11"/>
          <p:cNvSpPr/>
          <p:nvPr/>
        </p:nvSpPr>
        <p:spPr>
          <a:xfrm>
            <a:off x="8375760" y="344736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200 C2 observations</a:t>
            </a:r>
          </a:p>
        </p:txBody>
      </p:sp>
      <p:sp>
        <p:nvSpPr>
          <p:cNvPr id="270" name="Rounded Rectangle 12"/>
          <p:cNvSpPr/>
          <p:nvPr/>
        </p:nvSpPr>
        <p:spPr>
          <a:xfrm>
            <a:off x="8229600" y="3977640"/>
            <a:ext cx="274284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3"/>
          <p:cNvSpPr/>
          <p:nvPr/>
        </p:nvSpPr>
        <p:spPr>
          <a:xfrm>
            <a:off x="8375760" y="408744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PERCENTILE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4"/>
          <p:cNvSpPr/>
          <p:nvPr/>
        </p:nvSpPr>
        <p:spPr>
          <a:xfrm>
            <a:off x="8375760" y="434340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37th</a:t>
            </a:r>
          </a:p>
        </p:txBody>
      </p:sp>
      <p:sp>
        <p:nvSpPr>
          <p:cNvPr id="273" name="TextBox 15"/>
          <p:cNvSpPr/>
          <p:nvPr/>
        </p:nvSpPr>
        <p:spPr>
          <a:xfrm>
            <a:off x="8375760" y="472752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Within usable-size C2 sample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16"/>
          <p:cNvSpPr/>
          <p:nvPr/>
        </p:nvSpPr>
        <p:spPr>
          <a:xfrm>
            <a:off x="685800" y="5806440"/>
            <a:ext cx="10469520" cy="43848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7"/>
          <p:cNvSpPr/>
          <p:nvPr/>
        </p:nvSpPr>
        <p:spPr>
          <a:xfrm>
            <a:off x="868680" y="5916240"/>
            <a:ext cx="10103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Subject Villa does not rely on an implausibly low unit price. Its unit economics remain inside the ordinary C2 range.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8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7" name="Chart 276"/>
          <p:cNvGraphicFramePr>
            <a:graphicFrameLocks noGrp="1"/>
          </p:cNvGraphicFramePr>
          <p:nvPr/>
        </p:nvGraphicFramePr>
        <p:xfrm>
          <a:off x="685800" y="1417320"/>
          <a:ext cx="7131960" cy="425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06C | LOCAL MARKET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Local Market: Position Depends on the Comparison Set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3"/>
          <p:cNvSpPr/>
          <p:nvPr/>
        </p:nvSpPr>
        <p:spPr>
          <a:xfrm>
            <a:off x="685800" y="141732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831960" y="152712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BASIC LOCAL 3BR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5"/>
          <p:cNvSpPr/>
          <p:nvPr/>
        </p:nvSpPr>
        <p:spPr>
          <a:xfrm>
            <a:off x="831960" y="178308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€480k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6"/>
          <p:cNvSpPr/>
          <p:nvPr/>
        </p:nvSpPr>
        <p:spPr>
          <a:xfrm>
            <a:off x="831960" y="2167200"/>
            <a:ext cx="20386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Existing Via Darsena benchmark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7"/>
          <p:cNvSpPr/>
          <p:nvPr/>
        </p:nvSpPr>
        <p:spPr>
          <a:xfrm>
            <a:off x="3246120" y="141732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3392280" y="152712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SUBJECT VILLA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9"/>
          <p:cNvSpPr/>
          <p:nvPr/>
        </p:nvSpPr>
        <p:spPr>
          <a:xfrm>
            <a:off x="3392280" y="178308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€620k</a:t>
            </a:r>
          </a:p>
        </p:txBody>
      </p:sp>
      <p:sp>
        <p:nvSpPr>
          <p:cNvPr id="286" name="TextBox 10"/>
          <p:cNvSpPr/>
          <p:nvPr/>
        </p:nvSpPr>
        <p:spPr>
          <a:xfrm>
            <a:off x="3392280" y="2167200"/>
            <a:ext cx="20386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130 sqm | 3BR | 2BA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11"/>
          <p:cNvSpPr/>
          <p:nvPr/>
        </p:nvSpPr>
        <p:spPr>
          <a:xfrm>
            <a:off x="5806440" y="141732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2"/>
          <p:cNvSpPr/>
          <p:nvPr/>
        </p:nvSpPr>
        <p:spPr>
          <a:xfrm>
            <a:off x="5952600" y="152712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SELECTED LOCAL MEDIAN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3"/>
          <p:cNvSpPr/>
          <p:nvPr/>
        </p:nvSpPr>
        <p:spPr>
          <a:xfrm>
            <a:off x="5952600" y="178308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€700k</a:t>
            </a:r>
          </a:p>
        </p:txBody>
      </p:sp>
      <p:sp>
        <p:nvSpPr>
          <p:cNvPr id="290" name="TextBox 14"/>
          <p:cNvSpPr/>
          <p:nvPr/>
        </p:nvSpPr>
        <p:spPr>
          <a:xfrm>
            <a:off x="5952600" y="2167200"/>
            <a:ext cx="20386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Selected set includes subject reference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15"/>
          <p:cNvSpPr/>
          <p:nvPr/>
        </p:nvSpPr>
        <p:spPr>
          <a:xfrm>
            <a:off x="8366760" y="141732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6"/>
          <p:cNvSpPr/>
          <p:nvPr/>
        </p:nvSpPr>
        <p:spPr>
          <a:xfrm>
            <a:off x="8512920" y="152712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AUDITED MEDIAN RANGE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7"/>
          <p:cNvSpPr/>
          <p:nvPr/>
        </p:nvSpPr>
        <p:spPr>
          <a:xfrm>
            <a:off x="8512920" y="178308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€620k–€725k</a:t>
            </a:r>
          </a:p>
        </p:txBody>
      </p:sp>
      <p:sp>
        <p:nvSpPr>
          <p:cNvPr id="294" name="TextBox 18"/>
          <p:cNvSpPr/>
          <p:nvPr/>
        </p:nvSpPr>
        <p:spPr>
          <a:xfrm>
            <a:off x="8512920" y="2167200"/>
            <a:ext cx="20386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Alternative local universes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20"/>
          <p:cNvSpPr/>
          <p:nvPr/>
        </p:nvSpPr>
        <p:spPr>
          <a:xfrm>
            <a:off x="822960" y="5623560"/>
            <a:ext cx="10240920" cy="57564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21"/>
          <p:cNvSpPr/>
          <p:nvPr/>
        </p:nvSpPr>
        <p:spPr>
          <a:xfrm>
            <a:off x="1005840" y="5733360"/>
            <a:ext cx="98751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selected €700k median includes the subject reference. Other archived local definitions range from €620k to €725k; no precise discount is claimed.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2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9" name="Chart 298"/>
          <p:cNvGraphicFramePr>
            <a:graphicFrameLocks noGrp="1"/>
          </p:cNvGraphicFramePr>
          <p:nvPr/>
        </p:nvGraphicFramePr>
        <p:xfrm>
          <a:off x="914400" y="3017520"/>
          <a:ext cx="9875160" cy="2239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06D | ASSET DIFFERENTIATION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Premium Is Structural, Not a Size Premium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731520" y="132588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WHAT THE MARKET SEES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4"/>
          <p:cNvSpPr/>
          <p:nvPr/>
        </p:nvSpPr>
        <p:spPr>
          <a:xfrm>
            <a:off x="731520" y="1828800"/>
            <a:ext cx="4708800" cy="7858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877680" y="193860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130 SQM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6"/>
          <p:cNvSpPr/>
          <p:nvPr/>
        </p:nvSpPr>
        <p:spPr>
          <a:xfrm>
            <a:off x="877680" y="219456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Near C2 size middle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7"/>
          <p:cNvSpPr/>
          <p:nvPr/>
        </p:nvSpPr>
        <p:spPr>
          <a:xfrm>
            <a:off x="6035040" y="1828800"/>
            <a:ext cx="4708800" cy="7858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8"/>
          <p:cNvSpPr/>
          <p:nvPr/>
        </p:nvSpPr>
        <p:spPr>
          <a:xfrm>
            <a:off x="6181200" y="193860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~700 SQM PRIVATE OUTDOOR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9"/>
          <p:cNvSpPr/>
          <p:nvPr/>
        </p:nvSpPr>
        <p:spPr>
          <a:xfrm>
            <a:off x="6181200" y="219456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Large external space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10"/>
          <p:cNvSpPr/>
          <p:nvPr/>
        </p:nvSpPr>
        <p:spPr>
          <a:xfrm>
            <a:off x="731520" y="2788920"/>
            <a:ext cx="4708800" cy="7858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11"/>
          <p:cNvSpPr/>
          <p:nvPr/>
        </p:nvSpPr>
        <p:spPr>
          <a:xfrm>
            <a:off x="877680" y="289872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STRONG SEA VIEW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2"/>
          <p:cNvSpPr/>
          <p:nvPr/>
        </p:nvSpPr>
        <p:spPr>
          <a:xfrm>
            <a:off x="877680" y="315468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High seasonal utility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3"/>
          <p:cNvSpPr/>
          <p:nvPr/>
        </p:nvSpPr>
        <p:spPr>
          <a:xfrm>
            <a:off x="6035040" y="2788920"/>
            <a:ext cx="4708800" cy="7858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4"/>
          <p:cNvSpPr/>
          <p:nvPr/>
        </p:nvSpPr>
        <p:spPr>
          <a:xfrm>
            <a:off x="6181200" y="289872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~100 M TO BEACH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5"/>
          <p:cNvSpPr/>
          <p:nvPr/>
        </p:nvSpPr>
        <p:spPr>
          <a:xfrm>
            <a:off x="6181200" y="315468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Direct coastal use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ounded Rectangle 16"/>
          <p:cNvSpPr/>
          <p:nvPr/>
        </p:nvSpPr>
        <p:spPr>
          <a:xfrm>
            <a:off x="731520" y="3749040"/>
            <a:ext cx="4708800" cy="7858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17"/>
          <p:cNvSpPr/>
          <p:nvPr/>
        </p:nvSpPr>
        <p:spPr>
          <a:xfrm>
            <a:off x="877680" y="385884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THREE-SIDED INDEPENDENCE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8"/>
          <p:cNvSpPr/>
          <p:nvPr/>
        </p:nvSpPr>
        <p:spPr>
          <a:xfrm>
            <a:off x="877680" y="411480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Privacy / separation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19"/>
          <p:cNvSpPr/>
          <p:nvPr/>
        </p:nvSpPr>
        <p:spPr>
          <a:xfrm>
            <a:off x="6035040" y="3749040"/>
            <a:ext cx="4708800" cy="7858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20"/>
          <p:cNvSpPr/>
          <p:nvPr/>
        </p:nvSpPr>
        <p:spPr>
          <a:xfrm>
            <a:off x="6181200" y="385884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PARKING + MULTI-LEVEL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1"/>
          <p:cNvSpPr/>
          <p:nvPr/>
        </p:nvSpPr>
        <p:spPr>
          <a:xfrm>
            <a:off x="6181200" y="411480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Functional differentiation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22"/>
          <p:cNvSpPr/>
          <p:nvPr/>
        </p:nvSpPr>
        <p:spPr>
          <a:xfrm>
            <a:off x="731520" y="5166360"/>
            <a:ext cx="10332360" cy="71280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23"/>
          <p:cNvSpPr/>
          <p:nvPr/>
        </p:nvSpPr>
        <p:spPr>
          <a:xfrm>
            <a:off x="914400" y="5276160"/>
            <a:ext cx="9966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The final C2 screening ranks property form first, location second and area third. Subject Villa then adds a strong local structural package that is not captured by floor area alone.</a:t>
            </a:r>
          </a:p>
        </p:txBody>
      </p:sp>
      <p:sp>
        <p:nvSpPr>
          <p:cNvPr id="322" name="TextBox 24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18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07A | RENTAL SEASONALITY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Rental Income Is Strong — and Highly Seasonal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5" name="Chart 3"/>
          <p:cNvGraphicFramePr/>
          <p:nvPr/>
        </p:nvGraphicFramePr>
        <p:xfrm>
          <a:off x="640080" y="1325880"/>
          <a:ext cx="731484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6" name="Rounded Rectangle 4"/>
          <p:cNvSpPr/>
          <p:nvPr/>
        </p:nvSpPr>
        <p:spPr>
          <a:xfrm>
            <a:off x="8229600" y="141732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5"/>
          <p:cNvSpPr/>
          <p:nvPr/>
        </p:nvSpPr>
        <p:spPr>
          <a:xfrm>
            <a:off x="8375760" y="152712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ANNUAL GROSS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6"/>
          <p:cNvSpPr/>
          <p:nvPr/>
        </p:nvSpPr>
        <p:spPr>
          <a:xfrm>
            <a:off x="8375760" y="178308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€87.4k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7"/>
          <p:cNvSpPr/>
          <p:nvPr/>
        </p:nvSpPr>
        <p:spPr>
          <a:xfrm>
            <a:off x="8375760" y="21672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Probability-weighted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8"/>
          <p:cNvSpPr/>
          <p:nvPr/>
        </p:nvSpPr>
        <p:spPr>
          <a:xfrm>
            <a:off x="8229600" y="265176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9"/>
          <p:cNvSpPr/>
          <p:nvPr/>
        </p:nvSpPr>
        <p:spPr>
          <a:xfrm>
            <a:off x="8375760" y="276156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JUN–OCT SHARE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10"/>
          <p:cNvSpPr/>
          <p:nvPr/>
        </p:nvSpPr>
        <p:spPr>
          <a:xfrm>
            <a:off x="8375760" y="301752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71.6%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1"/>
          <p:cNvSpPr/>
          <p:nvPr/>
        </p:nvSpPr>
        <p:spPr>
          <a:xfrm>
            <a:off x="8375760" y="340164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Of annual gross cash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ounded Rectangle 12"/>
          <p:cNvSpPr/>
          <p:nvPr/>
        </p:nvSpPr>
        <p:spPr>
          <a:xfrm>
            <a:off x="8229600" y="388620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13"/>
          <p:cNvSpPr/>
          <p:nvPr/>
        </p:nvSpPr>
        <p:spPr>
          <a:xfrm>
            <a:off x="8375760" y="399600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JUL–SEP SHARE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4"/>
          <p:cNvSpPr/>
          <p:nvPr/>
        </p:nvSpPr>
        <p:spPr>
          <a:xfrm>
            <a:off x="8375760" y="425196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50.8%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5"/>
          <p:cNvSpPr/>
          <p:nvPr/>
        </p:nvSpPr>
        <p:spPr>
          <a:xfrm>
            <a:off x="8375760" y="46360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Peak-season concentration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16"/>
          <p:cNvSpPr/>
          <p:nvPr/>
        </p:nvSpPr>
        <p:spPr>
          <a:xfrm>
            <a:off x="685800" y="5742360"/>
            <a:ext cx="10469520" cy="47520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17"/>
          <p:cNvSpPr/>
          <p:nvPr/>
        </p:nvSpPr>
        <p:spPr>
          <a:xfrm>
            <a:off x="868680" y="5852160"/>
            <a:ext cx="10103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This is an annual-cash asset with concentrated earning months, not a stable monthly-rent asset.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8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19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07B | RENTAL POSITION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Subject Villa's Rental Model Sits Above the Ordinary Local 3BR Benchmark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4"/>
          <p:cNvSpPr/>
          <p:nvPr/>
        </p:nvSpPr>
        <p:spPr>
          <a:xfrm>
            <a:off x="8229600" y="141732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5"/>
          <p:cNvSpPr/>
          <p:nvPr/>
        </p:nvSpPr>
        <p:spPr>
          <a:xfrm>
            <a:off x="8375760" y="152712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LOCAL 3BR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6"/>
          <p:cNvSpPr/>
          <p:nvPr/>
        </p:nvSpPr>
        <p:spPr>
          <a:xfrm>
            <a:off x="8375760" y="178308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€1,250 / week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7"/>
          <p:cNvSpPr/>
          <p:nvPr/>
        </p:nvSpPr>
        <p:spPr>
          <a:xfrm>
            <a:off x="8375760" y="21672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95 sqm | 3BR | 2BA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ounded Rectangle 8"/>
          <p:cNvSpPr/>
          <p:nvPr/>
        </p:nvSpPr>
        <p:spPr>
          <a:xfrm>
            <a:off x="8229600" y="265176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9"/>
          <p:cNvSpPr/>
          <p:nvPr/>
        </p:nvSpPr>
        <p:spPr>
          <a:xfrm>
            <a:off x="8375760" y="276156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OCTOBER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0"/>
          <p:cNvSpPr/>
          <p:nvPr/>
        </p:nvSpPr>
        <p:spPr>
          <a:xfrm>
            <a:off x="8375760" y="301752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€2,115 / week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11"/>
          <p:cNvSpPr/>
          <p:nvPr/>
        </p:nvSpPr>
        <p:spPr>
          <a:xfrm>
            <a:off x="8375760" y="340164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Probability-weighted model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ounded Rectangle 12"/>
          <p:cNvSpPr/>
          <p:nvPr/>
        </p:nvSpPr>
        <p:spPr>
          <a:xfrm>
            <a:off x="8229600" y="388620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13"/>
          <p:cNvSpPr/>
          <p:nvPr/>
        </p:nvSpPr>
        <p:spPr>
          <a:xfrm>
            <a:off x="8375760" y="3996000"/>
            <a:ext cx="245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AUGUST NORMAL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4"/>
          <p:cNvSpPr/>
          <p:nvPr/>
        </p:nvSpPr>
        <p:spPr>
          <a:xfrm>
            <a:off x="8375760" y="4251960"/>
            <a:ext cx="2450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€3,944 / week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5"/>
          <p:cNvSpPr/>
          <p:nvPr/>
        </p:nvSpPr>
        <p:spPr>
          <a:xfrm>
            <a:off x="8375760" y="46360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Peak €4,630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16"/>
          <p:cNvSpPr/>
          <p:nvPr/>
        </p:nvSpPr>
        <p:spPr>
          <a:xfrm>
            <a:off x="685800" y="5742360"/>
            <a:ext cx="10469520" cy="47520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17"/>
          <p:cNvSpPr/>
          <p:nvPr/>
        </p:nvSpPr>
        <p:spPr>
          <a:xfrm>
            <a:off x="868680" y="5852160"/>
            <a:ext cx="10103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rental signal is materially stronger than the ordinary 3BR sales benchmark.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8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20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9" name="Chart 358"/>
          <p:cNvGraphicFramePr>
            <a:graphicFrameLocks noGrp="1"/>
          </p:cNvGraphicFramePr>
          <p:nvPr/>
        </p:nvGraphicFramePr>
        <p:xfrm>
          <a:off x="685800" y="1417320"/>
          <a:ext cx="7131960" cy="4297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08 | OPERATING CASH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Operating Model Determines the Cash Yield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ounded Rectangle 4"/>
          <p:cNvSpPr/>
          <p:nvPr/>
        </p:nvSpPr>
        <p:spPr>
          <a:xfrm>
            <a:off x="8092440" y="1325880"/>
            <a:ext cx="2925720" cy="6944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5"/>
          <p:cNvSpPr/>
          <p:nvPr/>
        </p:nvSpPr>
        <p:spPr>
          <a:xfrm>
            <a:off x="8238600" y="1435680"/>
            <a:ext cx="263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SELF-MANAGED / 3%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6"/>
          <p:cNvSpPr/>
          <p:nvPr/>
        </p:nvSpPr>
        <p:spPr>
          <a:xfrm>
            <a:off x="8238600" y="169164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€44.0k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7"/>
          <p:cNvSpPr/>
          <p:nvPr/>
        </p:nvSpPr>
        <p:spPr>
          <a:xfrm>
            <a:off x="10871640" y="2075760"/>
            <a:ext cx="2633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7.1% cash yield on €620k</a:t>
            </a:r>
          </a:p>
        </p:txBody>
      </p:sp>
      <p:sp>
        <p:nvSpPr>
          <p:cNvPr id="366" name="Rounded Rectangle 8"/>
          <p:cNvSpPr/>
          <p:nvPr/>
        </p:nvSpPr>
        <p:spPr>
          <a:xfrm>
            <a:off x="8092440" y="2148840"/>
            <a:ext cx="2925720" cy="6944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9"/>
          <p:cNvSpPr/>
          <p:nvPr/>
        </p:nvSpPr>
        <p:spPr>
          <a:xfrm>
            <a:off x="8238600" y="2258640"/>
            <a:ext cx="263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SELF-MANAGED / 15.5%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0"/>
          <p:cNvSpPr/>
          <p:nvPr/>
        </p:nvSpPr>
        <p:spPr>
          <a:xfrm>
            <a:off x="8238600" y="251460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€33.1k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1"/>
          <p:cNvSpPr/>
          <p:nvPr/>
        </p:nvSpPr>
        <p:spPr>
          <a:xfrm>
            <a:off x="10871640" y="2898720"/>
            <a:ext cx="2633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5.3% cash yield on €620k</a:t>
            </a:r>
          </a:p>
        </p:txBody>
      </p:sp>
      <p:sp>
        <p:nvSpPr>
          <p:cNvPr id="370" name="Rounded Rectangle 12"/>
          <p:cNvSpPr/>
          <p:nvPr/>
        </p:nvSpPr>
        <p:spPr>
          <a:xfrm>
            <a:off x="8092440" y="2971800"/>
            <a:ext cx="2925720" cy="6944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13"/>
          <p:cNvSpPr/>
          <p:nvPr/>
        </p:nvSpPr>
        <p:spPr>
          <a:xfrm>
            <a:off x="8238600" y="3081600"/>
            <a:ext cx="263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LIGHT MANAGEMENT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4"/>
          <p:cNvSpPr/>
          <p:nvPr/>
        </p:nvSpPr>
        <p:spPr>
          <a:xfrm>
            <a:off x="8238600" y="333756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€24.1k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15"/>
          <p:cNvSpPr/>
          <p:nvPr/>
        </p:nvSpPr>
        <p:spPr>
          <a:xfrm>
            <a:off x="10871640" y="3721680"/>
            <a:ext cx="2633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3.9% cash yield on €620k</a:t>
            </a:r>
          </a:p>
        </p:txBody>
      </p:sp>
      <p:sp>
        <p:nvSpPr>
          <p:cNvPr id="374" name="Rounded Rectangle 16"/>
          <p:cNvSpPr/>
          <p:nvPr/>
        </p:nvSpPr>
        <p:spPr>
          <a:xfrm>
            <a:off x="8092440" y="3794760"/>
            <a:ext cx="2925720" cy="6944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17"/>
          <p:cNvSpPr/>
          <p:nvPr/>
        </p:nvSpPr>
        <p:spPr>
          <a:xfrm>
            <a:off x="8238600" y="3904560"/>
            <a:ext cx="2633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FULL MANAGEMENT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8"/>
          <p:cNvSpPr/>
          <p:nvPr/>
        </p:nvSpPr>
        <p:spPr>
          <a:xfrm>
            <a:off x="8238600" y="4160520"/>
            <a:ext cx="2633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€12.3k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9"/>
          <p:cNvSpPr/>
          <p:nvPr/>
        </p:nvSpPr>
        <p:spPr>
          <a:xfrm>
            <a:off x="10871640" y="4544640"/>
            <a:ext cx="26330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2.0% cash yield on €620k</a:t>
            </a:r>
          </a:p>
        </p:txBody>
      </p:sp>
      <p:sp>
        <p:nvSpPr>
          <p:cNvPr id="378" name="Rounded Rectangle 20"/>
          <p:cNvSpPr/>
          <p:nvPr/>
        </p:nvSpPr>
        <p:spPr>
          <a:xfrm>
            <a:off x="685800" y="5833800"/>
            <a:ext cx="10469520" cy="39276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21"/>
          <p:cNvSpPr/>
          <p:nvPr/>
        </p:nvSpPr>
        <p:spPr>
          <a:xfrm>
            <a:off x="868680" y="5943600"/>
            <a:ext cx="101037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difference between efficient self-management and full management is economically material.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2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21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1" name="Chart 380"/>
          <p:cNvGraphicFramePr>
            <a:graphicFrameLocks noGrp="1"/>
          </p:cNvGraphicFramePr>
          <p:nvPr/>
        </p:nvGraphicFramePr>
        <p:xfrm>
          <a:off x="640080" y="1417320"/>
          <a:ext cx="7131960" cy="4388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08A | HOLD / SELL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Hold or Sell Is a Capital-Allocation Question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ounded Rectangle 3"/>
          <p:cNvSpPr/>
          <p:nvPr/>
        </p:nvSpPr>
        <p:spPr>
          <a:xfrm>
            <a:off x="685800" y="1371600"/>
            <a:ext cx="233136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4"/>
          <p:cNvSpPr/>
          <p:nvPr/>
        </p:nvSpPr>
        <p:spPr>
          <a:xfrm>
            <a:off x="831960" y="148140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CAPITAL TIED UP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831960" y="173736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€620k</a:t>
            </a:r>
          </a:p>
        </p:txBody>
      </p:sp>
      <p:sp>
        <p:nvSpPr>
          <p:cNvPr id="386" name="TextBox 6"/>
          <p:cNvSpPr/>
          <p:nvPr/>
        </p:nvSpPr>
        <p:spPr>
          <a:xfrm>
            <a:off x="831960" y="2121480"/>
            <a:ext cx="2038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Current market anchor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ounded Rectangle 7"/>
          <p:cNvSpPr/>
          <p:nvPr/>
        </p:nvSpPr>
        <p:spPr>
          <a:xfrm>
            <a:off x="3246120" y="1371600"/>
            <a:ext cx="233136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8"/>
          <p:cNvSpPr/>
          <p:nvPr/>
        </p:nvSpPr>
        <p:spPr>
          <a:xfrm>
            <a:off x="3392280" y="148140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LIGHT-MANAGEMENT CASH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9"/>
          <p:cNvSpPr/>
          <p:nvPr/>
        </p:nvSpPr>
        <p:spPr>
          <a:xfrm>
            <a:off x="3392280" y="173736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€24.1k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0"/>
          <p:cNvSpPr/>
          <p:nvPr/>
        </p:nvSpPr>
        <p:spPr>
          <a:xfrm>
            <a:off x="3392280" y="2121480"/>
            <a:ext cx="2038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After base fixed costs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11"/>
          <p:cNvSpPr/>
          <p:nvPr/>
        </p:nvSpPr>
        <p:spPr>
          <a:xfrm>
            <a:off x="5806440" y="1371600"/>
            <a:ext cx="233136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12"/>
          <p:cNvSpPr/>
          <p:nvPr/>
        </p:nvSpPr>
        <p:spPr>
          <a:xfrm>
            <a:off x="5952600" y="148140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FULL-MANAGEMENT CASH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3"/>
          <p:cNvSpPr/>
          <p:nvPr/>
        </p:nvSpPr>
        <p:spPr>
          <a:xfrm>
            <a:off x="5952600" y="173736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€12.3k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14"/>
          <p:cNvSpPr/>
          <p:nvPr/>
        </p:nvSpPr>
        <p:spPr>
          <a:xfrm>
            <a:off x="5952600" y="2121480"/>
            <a:ext cx="2038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After base fixed costs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ounded Rectangle 15"/>
          <p:cNvSpPr/>
          <p:nvPr/>
        </p:nvSpPr>
        <p:spPr>
          <a:xfrm>
            <a:off x="8366760" y="1371600"/>
            <a:ext cx="2331360" cy="114264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16"/>
          <p:cNvSpPr/>
          <p:nvPr/>
        </p:nvSpPr>
        <p:spPr>
          <a:xfrm>
            <a:off x="8512920" y="1481400"/>
            <a:ext cx="203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EFFICIENT SELF-MANAGED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7"/>
          <p:cNvSpPr/>
          <p:nvPr/>
        </p:nvSpPr>
        <p:spPr>
          <a:xfrm>
            <a:off x="8512920" y="1737360"/>
            <a:ext cx="203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€44.0k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8"/>
          <p:cNvSpPr/>
          <p:nvPr/>
        </p:nvSpPr>
        <p:spPr>
          <a:xfrm>
            <a:off x="8512920" y="2121480"/>
            <a:ext cx="2038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After base fixed costs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9"/>
          <p:cNvSpPr/>
          <p:nvPr/>
        </p:nvSpPr>
        <p:spPr>
          <a:xfrm>
            <a:off x="822960" y="2880360"/>
            <a:ext cx="50288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HOLD / RENT becomes more compelling when</a:t>
            </a:r>
            <a:br>
              <a:rPr sz="1400"/>
            </a:br>
            <a:br>
              <a:rPr sz="1400"/>
            </a:b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the owner can operate near the efficient scenarios</a:t>
            </a:r>
            <a:br>
              <a:rPr sz="1400"/>
            </a:b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the rental profile remains achievable</a:t>
            </a:r>
            <a:br>
              <a:rPr sz="1400"/>
            </a:b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the owner values retaining a scarce coastal asset</a:t>
            </a:r>
            <a:br>
              <a:rPr sz="1400"/>
            </a:br>
            <a:r>
              <a:rPr b="0" lang="en-US" sz="1400" strike="noStrike" u="none">
                <a:solidFill>
                  <a:srgbClr val="202a34"/>
                </a:solidFill>
                <a:effectLst/>
                <a:uFillTx/>
                <a:latin typeface="Calibri"/>
              </a:rPr>
              <a:t>• there is no superior identified use for the released capital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20"/>
          <p:cNvSpPr/>
          <p:nvPr/>
        </p:nvSpPr>
        <p:spPr>
          <a:xfrm>
            <a:off x="6172200" y="2880360"/>
            <a:ext cx="47545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SELL becomes more compelling when</a:t>
            </a:r>
            <a:br/>
            <a:br/>
            <a:r>
              <a:t>• achievable rent or occupancy falls materially</a:t>
            </a:r>
            <a:br/>
            <a:r>
              <a:t>• full-service management becomes unavoidable</a:t>
            </a:r>
            <a:br/>
            <a:r>
              <a:t>• extraordinary costs rise</a:t>
            </a:r>
            <a:br/>
            <a:r>
              <a:t>• a real, risk-adjusted alternative use of €620k is superior</a:t>
            </a:r>
          </a:p>
        </p:txBody>
      </p:sp>
      <p:sp>
        <p:nvSpPr>
          <p:cNvPr id="401" name="Rounded Rectangle 21"/>
          <p:cNvSpPr/>
          <p:nvPr/>
        </p:nvSpPr>
        <p:spPr>
          <a:xfrm>
            <a:off x="822960" y="5349240"/>
            <a:ext cx="10149480" cy="65808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22"/>
          <p:cNvSpPr/>
          <p:nvPr/>
        </p:nvSpPr>
        <p:spPr>
          <a:xfrm>
            <a:off x="1005840" y="5459040"/>
            <a:ext cx="9783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Current evidence: holding and renting is economically viable; the data do not justify a categorical Sell recommendation without a concrete alternative capital return.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3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22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08B | SENSITIVITY &amp; UNKNOWNS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What Would Change the Reference View?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3"/>
          <p:cNvSpPr/>
          <p:nvPr/>
        </p:nvSpPr>
        <p:spPr>
          <a:xfrm>
            <a:off x="731520" y="14173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4"/>
          <p:cNvSpPr/>
          <p:nvPr/>
        </p:nvSpPr>
        <p:spPr>
          <a:xfrm>
            <a:off x="877680" y="152712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a54b47"/>
                </a:solidFill>
                <a:effectLst/>
                <a:uFillTx/>
                <a:latin typeface="Calibri"/>
              </a:rPr>
              <a:t>RENTAL UNDERPERFORMANCE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5"/>
          <p:cNvSpPr/>
          <p:nvPr/>
        </p:nvSpPr>
        <p:spPr>
          <a:xfrm>
            <a:off x="877680" y="178308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1" lang="en-US" sz="2000" strike="noStrike" u="none">
              <a:solidFill>
                <a:srgbClr val="1a2b3f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6"/>
          <p:cNvSpPr/>
          <p:nvPr/>
        </p:nvSpPr>
        <p:spPr>
          <a:xfrm>
            <a:off x="877680" y="2167200"/>
            <a:ext cx="44161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Lower realised rents / occupancy would compress the strongest part of the thesis.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ounded Rectangle 7"/>
          <p:cNvSpPr/>
          <p:nvPr/>
        </p:nvSpPr>
        <p:spPr>
          <a:xfrm>
            <a:off x="6035040" y="14173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8"/>
          <p:cNvSpPr/>
          <p:nvPr/>
        </p:nvSpPr>
        <p:spPr>
          <a:xfrm>
            <a:off x="6181200" y="152712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a54b47"/>
                </a:solidFill>
                <a:effectLst/>
                <a:uFillTx/>
                <a:latin typeface="Calibri"/>
              </a:rPr>
              <a:t>MANAGEMENT LEAKAGE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9"/>
          <p:cNvSpPr/>
          <p:nvPr/>
        </p:nvSpPr>
        <p:spPr>
          <a:xfrm>
            <a:off x="6181200" y="178308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1" lang="en-US" sz="2000" strike="noStrike" u="none">
              <a:solidFill>
                <a:srgbClr val="1a2b3f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10"/>
          <p:cNvSpPr/>
          <p:nvPr/>
        </p:nvSpPr>
        <p:spPr>
          <a:xfrm>
            <a:off x="6181200" y="2167200"/>
            <a:ext cx="44161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Full management reduces base annual cash to ~€12.3k.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ounded Rectangle 11"/>
          <p:cNvSpPr/>
          <p:nvPr/>
        </p:nvSpPr>
        <p:spPr>
          <a:xfrm>
            <a:off x="731520" y="324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12"/>
          <p:cNvSpPr/>
          <p:nvPr/>
        </p:nvSpPr>
        <p:spPr>
          <a:xfrm>
            <a:off x="877680" y="335592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c5c87"/>
                </a:solidFill>
                <a:effectLst/>
                <a:uFillTx/>
                <a:latin typeface="Calibri"/>
              </a:rPr>
              <a:t>EXTRAORDINARY COSTS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3"/>
          <p:cNvSpPr/>
          <p:nvPr/>
        </p:nvSpPr>
        <p:spPr>
          <a:xfrm>
            <a:off x="877680" y="361188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1" lang="en-US" sz="2000" strike="noStrike" u="none">
              <a:solidFill>
                <a:srgbClr val="1a2b3f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14"/>
          <p:cNvSpPr/>
          <p:nvPr/>
        </p:nvSpPr>
        <p:spPr>
          <a:xfrm>
            <a:off x="877680" y="3996000"/>
            <a:ext cx="44161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Major works, IMU or other unresolved costs can reduce cash materially.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ounded Rectangle 15"/>
          <p:cNvSpPr/>
          <p:nvPr/>
        </p:nvSpPr>
        <p:spPr>
          <a:xfrm>
            <a:off x="6035040" y="3246120"/>
            <a:ext cx="4708800" cy="150840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e1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16"/>
          <p:cNvSpPr/>
          <p:nvPr/>
        </p:nvSpPr>
        <p:spPr>
          <a:xfrm>
            <a:off x="6181200" y="3355920"/>
            <a:ext cx="4416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" strike="noStrike" u="none">
                <a:solidFill>
                  <a:srgbClr val="267d7e"/>
                </a:solidFill>
                <a:effectLst/>
                <a:uFillTx/>
                <a:latin typeface="Calibri"/>
              </a:rPr>
              <a:t>SUPERIOR CAPITAL USE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7"/>
          <p:cNvSpPr/>
          <p:nvPr/>
        </p:nvSpPr>
        <p:spPr>
          <a:xfrm>
            <a:off x="6181200" y="3611880"/>
            <a:ext cx="4416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1" lang="en-US" sz="2000" strike="noStrike" u="none">
              <a:solidFill>
                <a:srgbClr val="1a2b3f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18"/>
          <p:cNvSpPr/>
          <p:nvPr/>
        </p:nvSpPr>
        <p:spPr>
          <a:xfrm>
            <a:off x="6181200" y="3996000"/>
            <a:ext cx="44161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A verified alternative destination for €620k could justify selling.</a:t>
            </a:r>
          </a:p>
        </p:txBody>
      </p:sp>
      <p:sp>
        <p:nvSpPr>
          <p:cNvPr id="422" name="Rounded Rectangle 19"/>
          <p:cNvSpPr/>
          <p:nvPr/>
        </p:nvSpPr>
        <p:spPr>
          <a:xfrm>
            <a:off x="731520" y="5349240"/>
            <a:ext cx="10332360" cy="658080"/>
          </a:xfrm>
          <a:prstGeom prst="roundRect">
            <a:avLst>
              <a:gd name="adj" fmla="val 16667"/>
            </a:avLst>
          </a:prstGeom>
          <a:solidFill>
            <a:srgbClr val="f4f7f9"/>
          </a:solidFill>
          <a:ln>
            <a:solidFill>
              <a:srgbClr val="f4f7f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20"/>
          <p:cNvSpPr/>
          <p:nvPr/>
        </p:nvSpPr>
        <p:spPr>
          <a:xfrm>
            <a:off x="914400" y="54590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a2b3f"/>
                </a:solidFill>
                <a:effectLst/>
                <a:uFillTx/>
                <a:latin typeface="Calibri"/>
              </a:rPr>
              <a:t>The key uncertainty is execution, not the market-position diagnosis: Subject Villa's sales and rental positions are now reasonably well defined.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21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667482"/>
                </a:solidFill>
                <a:effectLst/>
                <a:uFillTx/>
                <a:latin typeface="Calibri"/>
              </a:rPr>
              <a:t>Subject Villa | Market Reference | 29 Aug 2026 | 23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Box 1"/>
          <p:cNvSpPr/>
          <p:nvPr/>
        </p:nvSpPr>
        <p:spPr>
          <a:xfrm>
            <a:off x="594360" y="3200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APPENDIX</a:t>
            </a:r>
          </a:p>
        </p:txBody>
      </p:sp>
      <p:sp>
        <p:nvSpPr>
          <p:cNvPr id="426" name="TextBox 2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Evidence Chain</a:t>
            </a:r>
          </a:p>
        </p:txBody>
      </p:sp>
      <p:sp>
        <p:nvSpPr>
          <p:cNvPr id="427" name="TextBox 3"/>
          <p:cNvSpPr/>
          <p:nvPr/>
        </p:nvSpPr>
        <p:spPr>
          <a:xfrm>
            <a:off x="731520" y="1371600"/>
            <a:ext cx="507456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MARKET</a:t>
            </a:r>
            <a:br/>
            <a:r>
              <a:t>966 canonical entities | 715 price-available</a:t>
            </a:r>
            <a:br/>
            <a:br/>
            <a:r>
              <a:t>C2</a:t>
            </a:r>
            <a:br/>
            <a:r>
              <a:t>Approx. €200k–€2m working core | 595 calibrated entities</a:t>
            </a:r>
            <a:br/>
            <a:br/>
            <a:r>
              <a:t>STRUCTURE</a:t>
            </a:r>
            <a:br/>
            <a:r>
              <a:t>Property form → Location → Area recursive screening</a:t>
            </a:r>
            <a:br/>
            <a:br/>
            <a:r>
              <a:t>LOCAL</a:t>
            </a:r>
            <a:br/>
            <a:r>
              <a:t>Selected local-set median ≈ €700k (subject included)</a:t>
            </a:r>
            <a:br/>
            <a:r>
              <a:t>Local 3BR anchor ≈ €480k</a:t>
            </a:r>
          </a:p>
        </p:txBody>
      </p:sp>
      <p:sp>
        <p:nvSpPr>
          <p:cNvPr id="428" name="TextBox 4"/>
          <p:cNvSpPr/>
          <p:nvPr/>
        </p:nvSpPr>
        <p:spPr>
          <a:xfrm>
            <a:off x="6126480" y="1371600"/>
            <a:ext cx="507456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SUBJECT VILLA</a:t>
            </a:r>
            <a:br/>
            <a:r>
              <a:t>€620k | 130 sqm | 3BR | 2BA</a:t>
            </a:r>
            <a:br/>
            <a:r>
              <a:t>~700 sqm private outdoor | strong sea view | ~100 m beach</a:t>
            </a:r>
            <a:br/>
            <a:br/>
            <a:r>
              <a:t>RENTAL</a:t>
            </a:r>
            <a:br/>
            <a:r>
              <a:t>€87.4k annual probability-weighted gross</a:t>
            </a:r>
            <a:br/>
            <a:r>
              <a:t>Jun–Oct ≈ 71.6% of annual gross</a:t>
            </a:r>
            <a:br/>
            <a:br/>
            <a:r>
              <a:t>OPERATING CASH</a:t>
            </a:r>
            <a:br/>
            <a:r>
              <a:t>€44.0k efficient self-managed → €12.3k full management</a:t>
            </a:r>
            <a:br/>
            <a:br/>
            <a:r>
              <a:t>REFERENCE STATUS</a:t>
            </a:r>
            <a:br/>
            <a:r>
              <a:t>Market positioning + decision support; not an appraisal or personalised investment mandate.</a:t>
            </a:r>
          </a:p>
        </p:txBody>
      </p:sp>
      <p:sp>
        <p:nvSpPr>
          <p:cNvPr id="429" name="Rounded Rectangle 5"/>
          <p:cNvSpPr/>
          <p:nvPr/>
        </p:nvSpPr>
        <p:spPr>
          <a:xfrm>
            <a:off x="731520" y="5806440"/>
            <a:ext cx="10469520" cy="456840"/>
          </a:xfrm>
          <a:prstGeom prst="roundRect">
            <a:avLst>
              <a:gd name="adj" fmla="val 16667"/>
            </a:avLst>
          </a:prstGeom>
          <a:solidFill>
            <a:srgbClr val="e7f1f7"/>
          </a:solidFill>
          <a:ln>
            <a:solidFill>
              <a:srgbClr val="e7f1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6"/>
          <p:cNvSpPr/>
          <p:nvPr/>
        </p:nvSpPr>
        <p:spPr>
          <a:xfrm>
            <a:off x="914400" y="5916240"/>
            <a:ext cx="1010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The report uses breadth only to establish context; the final judgement remains centred on Subject Villa.</a:t>
            </a:r>
          </a:p>
        </p:txBody>
      </p:sp>
      <p:sp>
        <p:nvSpPr>
          <p:cNvPr id="431" name="TextBox 7"/>
          <p:cNvSpPr/>
          <p:nvPr/>
        </p:nvSpPr>
        <p:spPr>
          <a:xfrm>
            <a:off x="594360" y="6510600"/>
            <a:ext cx="10972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t>Subject Villa | Market Reference | 29 Aug 2026 | 24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731520" y="56235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C1–C4 reconciliation currently leaves 9 price-available observations unresolved; these are excluded rather than forced into a category.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Subject Villa (Address Withheld) — Market Reference Report</dc:title>
  <cp:lastModifiedBy>python-pptx</cp:lastModifiedBy>
  <cp:revision>1</cp:revision>
  <dcterms:modified xsi:type="dcterms:W3CDTF">2026-08-29T16:54:44Z</dcterms:modified>
  <dc:subject>Reconciled Costa Smeralda market position, rental reference and Hold/Sell support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